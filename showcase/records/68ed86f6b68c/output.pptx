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gen_slideLayout7.xml" ContentType="application/vnd.openxmlformats-officedocument.presentationml.slideLayout+xml"/>
  <Override PartName="/ppt/slideMasters/gen_slideMaster1.xml" ContentType="application/vnd.openxmlformats-officedocument.presentationml.slideMaster+xml"/>
  <Override PartName="/ppt/slides/gen_slide10.xml" ContentType="application/vnd.openxmlformats-officedocument.presentationml.slide+xml"/>
  <Override PartName="/ppt/slides/gen_slide3.xml" ContentType="application/vnd.openxmlformats-officedocument.presentationml.slide+xml"/>
  <Override PartName="/ppt/slides/gen_slide4.xml" ContentType="application/vnd.openxmlformats-officedocument.presentationml.slide+xml"/>
  <Override PartName="/ppt/slides/gen_slide5.xml" ContentType="application/vnd.openxmlformats-officedocument.presentationml.slide+xml"/>
  <Override PartName="/ppt/slides/gen_slide6.xml" ContentType="application/vnd.openxmlformats-officedocument.presentationml.slide+xml"/>
  <Override PartName="/ppt/slides/gen_slide7.xml" ContentType="application/vnd.openxmlformats-officedocument.presentationml.slide+xml"/>
  <Override PartName="/ppt/slides/gen_slide8.xml" ContentType="application/vnd.openxmlformats-officedocument.presentationml.slide+xml"/>
  <Override PartName="/ppt/slides/gen_slide9.xml" ContentType="application/vnd.openxmlformats-officedocument.presentationml.slide+xml"/>
  <Override PartName="/ppt/theme/gen_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91" r:id="rId101"/>
  </p:sldMasterIdLst>
  <p:notesMasterIdLst>
    <p:notesMasterId r:id="rId8"/>
  </p:notesMasterIdLst>
  <p:handoutMasterIdLst>
    <p:handoutMasterId r:id="rId9"/>
  </p:handoutMasterIdLst>
  <p:sldIdLst>
    <p:sldId id="315" r:id="rId5"/>
    <p:sldId id="324" r:id="rId6"/>
    <p:sldId id="325" r:id="rId102"/>
    <p:sldId id="326" r:id="rId103"/>
    <p:sldId id="327" r:id="rId104"/>
    <p:sldId id="328" r:id="rId105"/>
    <p:sldId id="329" r:id="rId106"/>
    <p:sldId id="330" r:id="rId107"/>
    <p:sldId id="331" r:id="rId108"/>
    <p:sldId id="332" r:id="rId109"/>
  </p:sldIdLst>
  <p:sldSz cx="12192000" cy="6858000"/>
  <p:notesSz cx="6877050" cy="10002838"/>
  <p:custDataLst>
    <p:tags r:id="rId10"/>
  </p:custDataLst>
  <p:defaultTextStyle>
    <a:defPPr>
      <a:defRPr lang="en-US"/>
    </a:defPPr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935" userDrawn="1">
          <p15:clr>
            <a:srgbClr val="A4A3A4"/>
          </p15:clr>
        </p15:guide>
        <p15:guide id="3" orient="horz" pos="4020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25" userDrawn="1">
          <p15:clr>
            <a:srgbClr val="A4A3A4"/>
          </p15:clr>
        </p15:guide>
        <p15:guide id="8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1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9C9C9C"/>
    <a:srgbClr val="614173"/>
    <a:srgbClr val="CE7E34"/>
    <a:srgbClr val="006B6D"/>
    <a:srgbClr val="6AB023"/>
    <a:srgbClr val="3399FF"/>
    <a:srgbClr val="004696"/>
    <a:srgbClr val="E2C264"/>
    <a:srgbClr val="3CA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7E5F81B-B57D-4800-8E8F-8E96741CC982}" styleName="Mettler Toledo &gt; Green Table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512FF0-2B18-46AF-9A1B-3A70A708474B}" styleName="Mettler Toledo &gt; Green Tab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7439" autoAdjust="0"/>
  </p:normalViewPr>
  <p:slideViewPr>
    <p:cSldViewPr snapToGrid="0" snapToObjects="1" showGuides="1">
      <p:cViewPr varScale="1">
        <p:scale>
          <a:sx n="119" d="100"/>
          <a:sy n="119" d="100"/>
        </p:scale>
        <p:origin x="480" y="184"/>
      </p:cViewPr>
      <p:guideLst>
        <p:guide orient="horz" pos="2160"/>
        <p:guide orient="horz" pos="935"/>
        <p:guide orient="horz" pos="4020"/>
        <p:guide orient="horz" pos="391"/>
        <p:guide orient="horz" pos="504"/>
        <p:guide pos="3840"/>
        <p:guide pos="325"/>
        <p:guide pos="73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3126" y="96"/>
      </p:cViewPr>
      <p:guideLst>
        <p:guide orient="horz" pos="3151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Relationship Id="rId101" Type="http://schemas.openxmlformats.org/officeDocument/2006/relationships/slideMaster" Target="slideMasters/gen_slideMaster1.xml"/><Relationship Id="rId102" Type="http://schemas.openxmlformats.org/officeDocument/2006/relationships/slide" Target="slides/gen_slide3.xml"/><Relationship Id="rId103" Type="http://schemas.openxmlformats.org/officeDocument/2006/relationships/slide" Target="slides/gen_slide4.xml"/><Relationship Id="rId104" Type="http://schemas.openxmlformats.org/officeDocument/2006/relationships/slide" Target="slides/gen_slide5.xml"/><Relationship Id="rId105" Type="http://schemas.openxmlformats.org/officeDocument/2006/relationships/slide" Target="slides/gen_slide6.xml"/><Relationship Id="rId106" Type="http://schemas.openxmlformats.org/officeDocument/2006/relationships/slide" Target="slides/gen_slide7.xml"/><Relationship Id="rId107" Type="http://schemas.openxmlformats.org/officeDocument/2006/relationships/slide" Target="slides/gen_slide8.xml"/><Relationship Id="rId108" Type="http://schemas.openxmlformats.org/officeDocument/2006/relationships/slide" Target="slides/gen_slide9.xml"/><Relationship Id="rId109" Type="http://schemas.openxmlformats.org/officeDocument/2006/relationships/slide" Target="slides/gen_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574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0888"/>
            <a:ext cx="6664325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25033" y="4751348"/>
            <a:ext cx="5018567" cy="4501277"/>
          </a:xfrm>
          <a:prstGeom prst="rect">
            <a:avLst/>
          </a:prstGeom>
        </p:spPr>
        <p:txBody>
          <a:bodyPr vert="horz" lIns="96451" tIns="48225" rIns="96451" bIns="48225" rtlCol="0">
            <a:normAutofit/>
          </a:bodyPr>
          <a:lstStyle/>
          <a:p>
            <a:pPr lvl="0"/>
            <a:r>
              <a:rPr lang="en-US" dirty="0" err="1"/>
              <a:t>Textmasterformate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50888"/>
            <a:ext cx="6664325" cy="37496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5255180" y="9412732"/>
            <a:ext cx="692953" cy="500142"/>
          </a:xfrm>
          <a:prstGeom prst="rect">
            <a:avLst/>
          </a:prstGeom>
        </p:spPr>
        <p:txBody>
          <a:bodyPr/>
          <a:lstStyle/>
          <a:p>
            <a:fld id="{B37E420F-8DC5-4183-89F9-42805A72DA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7083"/>
      </p:ext>
    </p:extLst>
  </p:cSld>
  <p:clrMapOvr>
    <a:masterClrMapping/>
  </p:clrMapOvr>
</p:notes>
</file>

<file path=ppt/slideLayouts/_rels/gen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gen_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gen_slideLayout7.xml><?xml version="1.0" encoding="utf-8"?>
<p:sldLayout xmlns:a="http://schemas.openxmlformats.org/drawingml/2006/main" xmlns:p="http://schemas.openxmlformats.org/presentationml/2006/main" type="blank" preserve="1">
  <p:cSld name="web_68ed86f6b68c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215680" y="0"/>
            <a:ext cx="8976320" cy="2636838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6682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66828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0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46475" y="1"/>
            <a:ext cx="8945525" cy="2635199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5691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2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2156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4780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15" hasCustomPrompt="1"/>
          </p:nvPr>
        </p:nvSpPr>
        <p:spPr>
          <a:xfrm>
            <a:off x="77404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16" hasCustomPrompt="1"/>
          </p:nvPr>
        </p:nvSpPr>
        <p:spPr>
          <a:xfrm>
            <a:off x="100028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2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215680" y="0"/>
            <a:ext cx="5702720" cy="26369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244800" y="2642400"/>
            <a:ext cx="8947200" cy="4215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784299" y="0"/>
            <a:ext cx="3407700" cy="2636912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36800"/>
            <a:ext cx="8256917" cy="613822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4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2485F82-BAA6-4E12-A25C-E4A22D2EB0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490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2485F82-BAA6-4E12-A25C-E4A22D2EB0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0" y="0"/>
            <a:ext cx="6096000" cy="623731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  <a:gs pos="7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de-DE" sz="1400">
              <a:solidFill>
                <a:srgbClr val="6BD2FF"/>
              </a:solidFill>
            </a:endParaRPr>
          </a:p>
        </p:txBody>
      </p:sp>
      <p:sp>
        <p:nvSpPr>
          <p:cNvPr id="3" name="Body1"/>
          <p:cNvSpPr>
            <a:spLocks noGrp="1"/>
          </p:cNvSpPr>
          <p:nvPr>
            <p:ph type="body" idx="1" hasCustomPrompt="1"/>
          </p:nvPr>
        </p:nvSpPr>
        <p:spPr>
          <a:xfrm>
            <a:off x="6294285" y="3212977"/>
            <a:ext cx="5376929" cy="3168773"/>
          </a:xfrm>
        </p:spPr>
        <p:txBody>
          <a:bodyPr anchor="t"/>
          <a:lstStyle>
            <a:lvl1pPr marL="216000" indent="-21600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chapter topic…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20787" y="1484314"/>
            <a:ext cx="5376335" cy="1584637"/>
          </a:xfrm>
        </p:spPr>
        <p:txBody>
          <a:bodyPr vert="horz"/>
          <a:lstStyle>
            <a:lvl1pPr algn="r">
              <a:defRPr baseline="0"/>
            </a:lvl1pPr>
          </a:lstStyle>
          <a:p>
            <a:r>
              <a:rPr lang="en-US" noProof="0" dirty="0"/>
              <a:t>Click to add chapter name…</a:t>
            </a:r>
          </a:p>
        </p:txBody>
      </p:sp>
      <p:cxnSp>
        <p:nvCxnSpPr>
          <p:cNvPr id="10" name="Gerade Verbindung 9"/>
          <p:cNvCxnSpPr/>
          <p:nvPr userDrawn="1"/>
        </p:nvCxnSpPr>
        <p:spPr bwMode="gray">
          <a:xfrm>
            <a:off x="6288001" y="2898001"/>
            <a:ext cx="5376924" cy="8175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ildplatzhalter 7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"/>
            <a:ext cx="6096000" cy="2924175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C6663A-68A6-47CA-99E9-8D50C3559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905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C6663A-68A6-47CA-99E9-8D50C3559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454" y="1016000"/>
            <a:ext cx="11155275" cy="536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4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6" y="1485900"/>
            <a:ext cx="11155276" cy="4895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ull Page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B79284B-854B-4156-B3FE-C8B8A7DB29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9143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B79284B-854B-4156-B3FE-C8B8A7DB29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4945" cy="324769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 hasCustomPrompt="1"/>
          </p:nvPr>
        </p:nvSpPr>
        <p:spPr>
          <a:xfrm>
            <a:off x="520453" y="1485900"/>
            <a:ext cx="11155609" cy="4463380"/>
          </a:xfrm>
          <a:noFill/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Click icon to insert chart or table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 hasCustomPrompt="1"/>
          </p:nvPr>
        </p:nvSpPr>
        <p:spPr>
          <a:xfrm>
            <a:off x="520453" y="6093296"/>
            <a:ext cx="11155609" cy="288032"/>
          </a:xfr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Add chart/table description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372CAD24-CA91-46F0-8D23-AFBE2721F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5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ag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214A70-ADFD-4F3F-ADBC-92B21BDFD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1757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214A70-ADFD-4F3F-ADBC-92B21BDFD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6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1CC508A-9A45-4BFA-AF3D-498236D06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404BC77-937E-4BA7-9E0C-26F3003111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7396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404BC77-937E-4BA7-9E0C-26F300311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0A3C469-8B84-4047-B855-082CEF591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0"/>
            <a:ext cx="12192000" cy="6054049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2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9" name="Body1">
            <a:extLst>
              <a:ext uri="{FF2B5EF4-FFF2-40B4-BE49-F238E27FC236}">
                <a16:creationId xmlns:a16="http://schemas.microsoft.com/office/drawing/2014/main" id="{D7C55B57-542A-4150-B3B6-251BFF73B5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0123" y="3434455"/>
            <a:ext cx="11160001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6EABA4CD-7759-4FA6-B358-524E10C883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0123" y="3987800"/>
            <a:ext cx="11160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83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1" name="Body1">
            <a:extLst>
              <a:ext uri="{FF2B5EF4-FFF2-40B4-BE49-F238E27FC236}">
                <a16:creationId xmlns:a16="http://schemas.microsoft.com/office/drawing/2014/main" id="{76DA7266-7942-40B1-B56C-4D888FA56C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3434455"/>
            <a:ext cx="3449601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2">
            <a:extLst>
              <a:ext uri="{FF2B5EF4-FFF2-40B4-BE49-F238E27FC236}">
                <a16:creationId xmlns:a16="http://schemas.microsoft.com/office/drawing/2014/main" id="{AB45FB46-F8C4-44E9-B5F7-7F29B25E688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3434455"/>
            <a:ext cx="3456385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3">
            <a:extLst>
              <a:ext uri="{FF2B5EF4-FFF2-40B4-BE49-F238E27FC236}">
                <a16:creationId xmlns:a16="http://schemas.microsoft.com/office/drawing/2014/main" id="{32379907-2B9C-42A1-942C-94DF947884B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8214498" y="3434455"/>
            <a:ext cx="3456716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85CAE92-23EC-4A40-8E9A-0DF9991DFE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4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Image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322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3063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1758E02F-CB0E-4C81-8989-D0B15562378B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306653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EC62C3CB-D2B5-4ED4-86FF-48CCD79279E7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9199596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ody1">
            <a:extLst>
              <a:ext uri="{FF2B5EF4-FFF2-40B4-BE49-F238E27FC236}">
                <a16:creationId xmlns:a16="http://schemas.microsoft.com/office/drawing/2014/main" id="{AD66C3E5-01C2-4242-B613-116668B4E9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75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Body1">
            <a:extLst>
              <a:ext uri="{FF2B5EF4-FFF2-40B4-BE49-F238E27FC236}">
                <a16:creationId xmlns:a16="http://schemas.microsoft.com/office/drawing/2014/main" id="{F4B2B228-D14D-4BD3-AF48-25FDFA150D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3374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Body1">
            <a:extLst>
              <a:ext uri="{FF2B5EF4-FFF2-40B4-BE49-F238E27FC236}">
                <a16:creationId xmlns:a16="http://schemas.microsoft.com/office/drawing/2014/main" id="{26205AD7-763E-4A2C-B99F-83EC65E12B1C}"/>
              </a:ext>
            </a:extLst>
          </p:cNvPr>
          <p:cNvSpPr>
            <a:spLocks noGrp="1"/>
          </p:cNvSpPr>
          <p:nvPr>
            <p:ph idx="104" hasCustomPrompt="1"/>
          </p:nvPr>
        </p:nvSpPr>
        <p:spPr>
          <a:xfrm>
            <a:off x="3069911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Body1">
            <a:extLst>
              <a:ext uri="{FF2B5EF4-FFF2-40B4-BE49-F238E27FC236}">
                <a16:creationId xmlns:a16="http://schemas.microsoft.com/office/drawing/2014/main" id="{03313F0F-AA28-42D7-BE93-95AF64A60F94}"/>
              </a:ext>
            </a:extLst>
          </p:cNvPr>
          <p:cNvSpPr>
            <a:spLocks noGrp="1"/>
          </p:cNvSpPr>
          <p:nvPr>
            <p:ph idx="105"/>
          </p:nvPr>
        </p:nvSpPr>
        <p:spPr>
          <a:xfrm>
            <a:off x="3069910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Body1">
            <a:extLst>
              <a:ext uri="{FF2B5EF4-FFF2-40B4-BE49-F238E27FC236}">
                <a16:creationId xmlns:a16="http://schemas.microsoft.com/office/drawing/2014/main" id="{FDA29E5A-9148-4B97-9132-F88B6CCC2F1C}"/>
              </a:ext>
            </a:extLst>
          </p:cNvPr>
          <p:cNvSpPr>
            <a:spLocks noGrp="1"/>
          </p:cNvSpPr>
          <p:nvPr>
            <p:ph idx="106" hasCustomPrompt="1"/>
          </p:nvPr>
        </p:nvSpPr>
        <p:spPr>
          <a:xfrm>
            <a:off x="6137656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Body1">
            <a:extLst>
              <a:ext uri="{FF2B5EF4-FFF2-40B4-BE49-F238E27FC236}">
                <a16:creationId xmlns:a16="http://schemas.microsoft.com/office/drawing/2014/main" id="{94FF3C29-4B46-4EB9-8EC6-71701522E8FE}"/>
              </a:ext>
            </a:extLst>
          </p:cNvPr>
          <p:cNvSpPr>
            <a:spLocks noGrp="1"/>
          </p:cNvSpPr>
          <p:nvPr>
            <p:ph idx="107"/>
          </p:nvPr>
        </p:nvSpPr>
        <p:spPr>
          <a:xfrm>
            <a:off x="6137655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Body1">
            <a:extLst>
              <a:ext uri="{FF2B5EF4-FFF2-40B4-BE49-F238E27FC236}">
                <a16:creationId xmlns:a16="http://schemas.microsoft.com/office/drawing/2014/main" id="{B9B4420F-E5C1-43B2-9981-12AF867CB239}"/>
              </a:ext>
            </a:extLst>
          </p:cNvPr>
          <p:cNvSpPr>
            <a:spLocks noGrp="1"/>
          </p:cNvSpPr>
          <p:nvPr>
            <p:ph idx="108" hasCustomPrompt="1"/>
          </p:nvPr>
        </p:nvSpPr>
        <p:spPr>
          <a:xfrm>
            <a:off x="9199597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Body1">
            <a:extLst>
              <a:ext uri="{FF2B5EF4-FFF2-40B4-BE49-F238E27FC236}">
                <a16:creationId xmlns:a16="http://schemas.microsoft.com/office/drawing/2014/main" id="{E9B0CB9E-008C-438F-B7BD-4C4800FA77B4}"/>
              </a:ext>
            </a:extLst>
          </p:cNvPr>
          <p:cNvSpPr>
            <a:spLocks noGrp="1"/>
          </p:cNvSpPr>
          <p:nvPr>
            <p:ph idx="109"/>
          </p:nvPr>
        </p:nvSpPr>
        <p:spPr>
          <a:xfrm>
            <a:off x="9199596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9368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eader, 2 Images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46F9472F-1090-49E4-B546-78497BAFE9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4253345"/>
            <a:ext cx="3449601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Body2">
            <a:extLst>
              <a:ext uri="{FF2B5EF4-FFF2-40B4-BE49-F238E27FC236}">
                <a16:creationId xmlns:a16="http://schemas.microsoft.com/office/drawing/2014/main" id="{423F6CB4-7821-4C15-9EF6-46A6A838204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4253345"/>
            <a:ext cx="3456385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3">
            <a:extLst>
              <a:ext uri="{FF2B5EF4-FFF2-40B4-BE49-F238E27FC236}">
                <a16:creationId xmlns:a16="http://schemas.microsoft.com/office/drawing/2014/main" id="{79ABB031-FBFA-4A66-A6D1-0AFE3F446C6F}"/>
              </a:ext>
            </a:extLst>
          </p:cNvPr>
          <p:cNvSpPr>
            <a:spLocks noGrp="1"/>
          </p:cNvSpPr>
          <p:nvPr>
            <p:ph sz="quarter" idx="101"/>
          </p:nvPr>
        </p:nvSpPr>
        <p:spPr>
          <a:xfrm>
            <a:off x="8214498" y="4253345"/>
            <a:ext cx="3456716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0718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orizontal Large 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9508AB7-262F-481F-9A76-4941E0BBC7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992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9508AB7-262F-481F-9A76-4941E0BBC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7" y="188641"/>
            <a:ext cx="9219869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55276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7" y="1484784"/>
            <a:ext cx="11155276" cy="23042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3" hasCustomPrompt="1"/>
          </p:nvPr>
        </p:nvSpPr>
        <p:spPr>
          <a:xfrm>
            <a:off x="520787" y="3932238"/>
            <a:ext cx="11155276" cy="2449512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Select icon below to add table or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0217932-A186-4142-9563-9CE9DFC02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7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C07C501-F330-4259-B385-BD329F280D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433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C07C501-F330-4259-B385-BD329F280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60918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8040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2" y="1485900"/>
            <a:ext cx="5388041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1947A15-927D-4B6B-AF4C-80DCBE0CE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Right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7D15A03-5F14-4E07-A837-5AEE9BC06B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73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7D15A03-5F14-4E07-A837-5AEE9BC06B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60585" cy="324768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7708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4" hasCustomPrompt="1"/>
          </p:nvPr>
        </p:nvSpPr>
        <p:spPr>
          <a:xfrm>
            <a:off x="6288020" y="1485900"/>
            <a:ext cx="5388043" cy="4895850"/>
          </a:xfrm>
          <a:noFill/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EF6269C-FFCE-48D9-A7B6-4C22ED1FB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1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A75627-E942-415D-832D-9B31635DEE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4446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A75627-E942-415D-832D-9B31635DEE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73087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1" hasCustomPrompt="1"/>
          </p:nvPr>
        </p:nvSpPr>
        <p:spPr>
          <a:xfrm>
            <a:off x="8214498" y="1485900"/>
            <a:ext cx="3456717" cy="2303140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4" name="Picture Placeholder 223"/>
          <p:cNvSpPr>
            <a:spLocks noGrp="1"/>
          </p:cNvSpPr>
          <p:nvPr>
            <p:ph type="pic" sz="quarter" idx="102" hasCustomPrompt="1"/>
          </p:nvPr>
        </p:nvSpPr>
        <p:spPr>
          <a:xfrm>
            <a:off x="8214498" y="4077072"/>
            <a:ext cx="3456716" cy="2304678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6FFA89-DB55-46CD-A8AD-85C2C3BCE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89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E566D51-EF16-4FDE-9D9B-B9A26B555B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1533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E566D51-EF16-4FDE-9D9B-B9A26B555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64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77824" cy="230314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0" y="1485900"/>
            <a:ext cx="53880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520454" y="4077072"/>
            <a:ext cx="5388039" cy="230467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6F9DAF8E-D9C0-4670-89C5-0F666AC6AF58}"/>
              </a:ext>
            </a:extLst>
          </p:cNvPr>
          <p:cNvSpPr>
            <a:spLocks noGrp="1"/>
          </p:cNvSpPr>
          <p:nvPr>
            <p:ph type="ftr" sz="quarter" idx="101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2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F10A8AE-91BB-4651-8DAB-B2E84EFFC4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290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F10A8AE-91BB-4651-8DAB-B2E84EFFC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34622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74281" y="1485900"/>
            <a:ext cx="3456192" cy="4893469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089" y="1485900"/>
            <a:ext cx="3456717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2F65D9C-B27D-4338-9C82-DFE5D2642128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82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CC40098-CB24-45C9-A192-10D790C9B8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97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CC40098-CB24-45C9-A192-10D790C9B8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275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9"/>
            <a:ext cx="3454982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68137" y="3140969"/>
            <a:ext cx="3456385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418" y="3140969"/>
            <a:ext cx="3456716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5900"/>
            <a:ext cx="346210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4367808" y="1485900"/>
            <a:ext cx="3460275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8221391" y="1485900"/>
            <a:ext cx="3457415" cy="142869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76929011-784F-421C-B8E6-D5215A51387A}"/>
              </a:ext>
            </a:extLst>
          </p:cNvPr>
          <p:cNvSpPr>
            <a:spLocks noGrp="1"/>
          </p:cNvSpPr>
          <p:nvPr>
            <p:ph type="ftr" sz="quarter" idx="109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6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F3D6664-F77D-4167-9BAD-79386C7B60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295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F3D6664-F77D-4167-9BAD-79386C7B6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 hasCustomPrompt="1"/>
          </p:nvPr>
        </p:nvSpPr>
        <p:spPr>
          <a:xfrm>
            <a:off x="520454" y="1484784"/>
            <a:ext cx="2500578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 hasCustomPrompt="1"/>
          </p:nvPr>
        </p:nvSpPr>
        <p:spPr>
          <a:xfrm>
            <a:off x="3410568" y="1484784"/>
            <a:ext cx="2496277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 hasCustomPrompt="1"/>
          </p:nvPr>
        </p:nvSpPr>
        <p:spPr>
          <a:xfrm>
            <a:off x="6296381" y="1485900"/>
            <a:ext cx="2496277" cy="4895428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 hasCustomPrompt="1"/>
          </p:nvPr>
        </p:nvSpPr>
        <p:spPr>
          <a:xfrm>
            <a:off x="9182194" y="1485900"/>
            <a:ext cx="24966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0248A160-E381-45FF-9F6B-8F6A195C2B54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1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8A2EEB13-AA5B-4F03-8289-D66CA01CFB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7513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8A2EEB13-AA5B-4F03-8289-D66CA01CF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8"/>
            <a:ext cx="2496277" cy="324078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3411521" y="3140968"/>
            <a:ext cx="2496277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6302588" y="3147550"/>
            <a:ext cx="2484819" cy="3234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/>
          </p:nvPr>
        </p:nvSpPr>
        <p:spPr>
          <a:xfrm>
            <a:off x="9182196" y="3140968"/>
            <a:ext cx="2496609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4784"/>
            <a:ext cx="2496608" cy="144016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3412136" y="1484784"/>
            <a:ext cx="2483632" cy="143701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6290842" y="1485900"/>
            <a:ext cx="249627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09" hasCustomPrompt="1"/>
          </p:nvPr>
        </p:nvSpPr>
        <p:spPr>
          <a:xfrm>
            <a:off x="9182194" y="1485900"/>
            <a:ext cx="2496611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F4E9A129-C01C-49EE-9DEC-99F6C1E3F620}"/>
              </a:ext>
            </a:extLst>
          </p:cNvPr>
          <p:cNvSpPr>
            <a:spLocks noGrp="1"/>
          </p:cNvSpPr>
          <p:nvPr>
            <p:ph type="ftr" sz="quarter" idx="110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96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173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8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19488" y="190073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10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379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8" name="Body1"/>
          <p:cNvSpPr>
            <a:spLocks noGrp="1"/>
          </p:cNvSpPr>
          <p:nvPr>
            <p:ph sz="quarter" idx="2" hasCustomPrompt="1"/>
          </p:nvPr>
        </p:nvSpPr>
        <p:spPr>
          <a:xfrm>
            <a:off x="520787" y="2060576"/>
            <a:ext cx="5400000" cy="172846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4" name="Body2"/>
          <p:cNvSpPr>
            <a:spLocks noGrp="1"/>
          </p:cNvSpPr>
          <p:nvPr>
            <p:ph sz="quarter" idx="4" hasCustomPrompt="1"/>
          </p:nvPr>
        </p:nvSpPr>
        <p:spPr>
          <a:xfrm>
            <a:off x="6278495" y="2060576"/>
            <a:ext cx="5400000" cy="1728192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7" name="Body3"/>
          <p:cNvSpPr>
            <a:spLocks noGrp="1"/>
          </p:cNvSpPr>
          <p:nvPr>
            <p:ph sz="quarter" idx="6" hasCustomPrompt="1"/>
          </p:nvPr>
        </p:nvSpPr>
        <p:spPr>
          <a:xfrm>
            <a:off x="520787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8" name="Body4"/>
          <p:cNvSpPr>
            <a:spLocks noGrp="1"/>
          </p:cNvSpPr>
          <p:nvPr>
            <p:ph sz="quarter" idx="8" hasCustomPrompt="1"/>
          </p:nvPr>
        </p:nvSpPr>
        <p:spPr>
          <a:xfrm>
            <a:off x="6278495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5" name="TitelBalken2"/>
          <p:cNvSpPr>
            <a:spLocks noGrp="1"/>
          </p:cNvSpPr>
          <p:nvPr>
            <p:ph type="body" sz="quarter" idx="3" hasCustomPrompt="1"/>
          </p:nvPr>
        </p:nvSpPr>
        <p:spPr>
          <a:xfrm>
            <a:off x="6278495" y="1484784"/>
            <a:ext cx="5400000" cy="576000"/>
          </a:xfrm>
          <a:solidFill>
            <a:schemeClr val="bg2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itelBalken3"/>
          <p:cNvSpPr>
            <a:spLocks noGrp="1"/>
          </p:cNvSpPr>
          <p:nvPr>
            <p:ph type="body" idx="5" hasCustomPrompt="1"/>
          </p:nvPr>
        </p:nvSpPr>
        <p:spPr>
          <a:xfrm>
            <a:off x="520787" y="4077072"/>
            <a:ext cx="5400000" cy="576064"/>
          </a:xfrm>
          <a:solidFill>
            <a:schemeClr val="tx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itelBalken4"/>
          <p:cNvSpPr>
            <a:spLocks noGrp="1"/>
          </p:cNvSpPr>
          <p:nvPr>
            <p:ph type="body" sz="quarter" idx="7" hasCustomPrompt="1"/>
          </p:nvPr>
        </p:nvSpPr>
        <p:spPr>
          <a:xfrm>
            <a:off x="6278495" y="4077072"/>
            <a:ext cx="5400000" cy="576064"/>
          </a:xfrm>
          <a:solidFill>
            <a:schemeClr val="accent6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elBalken1"/>
          <p:cNvSpPr>
            <a:spLocks noGrp="1"/>
          </p:cNvSpPr>
          <p:nvPr>
            <p:ph type="body" idx="1" hasCustomPrompt="1"/>
          </p:nvPr>
        </p:nvSpPr>
        <p:spPr>
          <a:xfrm>
            <a:off x="520787" y="1484784"/>
            <a:ext cx="5400000" cy="576000"/>
          </a:xfrm>
          <a:solidFill>
            <a:schemeClr val="accent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02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9252C0B9-8FAF-4FE6-B5F3-CE5B059C6BC3}"/>
              </a:ext>
            </a:extLst>
          </p:cNvPr>
          <p:cNvSpPr>
            <a:spLocks noGrp="1"/>
          </p:cNvSpPr>
          <p:nvPr>
            <p:ph type="ftr" sz="quarter" idx="10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  <p15:guide id="4" pos="735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527051" y="404581"/>
            <a:ext cx="11137900" cy="597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noProof="0" dirty="0">
                <a:solidFill>
                  <a:schemeClr val="accent4"/>
                </a:solidFill>
              </a:rPr>
              <a:t>End master</a:t>
            </a:r>
            <a:endParaRPr lang="en-US" sz="7200" noProof="0" dirty="0">
              <a:solidFill>
                <a:schemeClr val="tx1"/>
              </a:solidFill>
            </a:endParaRPr>
          </a:p>
          <a:p>
            <a:pPr algn="ctr"/>
            <a:r>
              <a:rPr lang="en-US" sz="7200" noProof="0" dirty="0">
                <a:solidFill>
                  <a:schemeClr val="tx1"/>
                </a:solidFill>
              </a:rPr>
              <a:t>Delete all layouts</a:t>
            </a:r>
            <a:r>
              <a:rPr lang="en-US" sz="7200" baseline="0" noProof="0" dirty="0">
                <a:solidFill>
                  <a:schemeClr val="tx1"/>
                </a:solidFill>
              </a:rPr>
              <a:t> after this layout!</a:t>
            </a:r>
            <a:endParaRPr lang="en-US" sz="72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98033"/>
      </p:ext>
    </p:extLst>
  </p:cSld>
  <p:clrMapOvr>
    <a:masterClrMapping/>
  </p:clrMapOvr>
</p:sldLayout>
</file>

<file path=ppt/slideMasters/_rels/gen_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gen_slideLayout7.xml"/><Relationship Id="rId12" Type="http://schemas.openxmlformats.org/officeDocument/2006/relationships/theme" Target="../theme/gen_theme1.xml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gen_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b_68ed86f6b68c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552908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400" b="0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 52"/>
          <p:cNvSpPr>
            <a:spLocks noChangeArrowheads="1"/>
          </p:cNvSpPr>
          <p:nvPr/>
        </p:nvSpPr>
        <p:spPr bwMode="gray">
          <a:xfrm>
            <a:off x="0" y="1"/>
            <a:ext cx="12192000" cy="76491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en-US" sz="14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20454" y="188641"/>
            <a:ext cx="9217024" cy="57398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/>
          <a:p>
            <a:r>
              <a:rPr lang="en-US" dirty="0"/>
              <a:t>Click to add topic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0123" y="1485900"/>
            <a:ext cx="11160000" cy="4895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</p:txBody>
      </p:sp>
      <p:cxnSp>
        <p:nvCxnSpPr>
          <p:cNvPr id="8" name="Gerade Verbindung 7"/>
          <p:cNvCxnSpPr/>
          <p:nvPr/>
        </p:nvCxnSpPr>
        <p:spPr bwMode="gray">
          <a:xfrm flipV="1">
            <a:off x="11672364" y="466863"/>
            <a:ext cx="0" cy="2889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123" y="6645600"/>
            <a:ext cx="11160000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0328725" y="486214"/>
            <a:ext cx="1211262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17F9C0D6-3904-4581-8748-E01E8F1D5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4000" y="327719"/>
            <a:ext cx="528000" cy="432000"/>
          </a:xfrm>
          <a:prstGeom prst="rect">
            <a:avLst/>
          </a:prstGeom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1" r:id="rId2"/>
    <p:sldLayoutId id="2147483682" r:id="rId3"/>
    <p:sldLayoutId id="2147483663" r:id="rId4"/>
    <p:sldLayoutId id="2147483679" r:id="rId5"/>
    <p:sldLayoutId id="2147483689" r:id="rId6"/>
    <p:sldLayoutId id="2147483684" r:id="rId7"/>
    <p:sldLayoutId id="2147483666" r:id="rId8"/>
    <p:sldLayoutId id="2147483680" r:id="rId9"/>
    <p:sldLayoutId id="2147483687" r:id="rId10"/>
    <p:sldLayoutId id="2147483685" r:id="rId11"/>
    <p:sldLayoutId id="2147483686" r:id="rId12"/>
    <p:sldLayoutId id="2147483690" r:id="rId13"/>
    <p:sldLayoutId id="2147483662" r:id="rId14"/>
    <p:sldLayoutId id="2147483673" r:id="rId15"/>
    <p:sldLayoutId id="2147483664" r:id="rId16"/>
    <p:sldLayoutId id="2147483675" r:id="rId17"/>
    <p:sldLayoutId id="2147483677" r:id="rId18"/>
    <p:sldLayoutId id="2147483678" r:id="rId19"/>
    <p:sldLayoutId id="2147483669" r:id="rId20"/>
    <p:sldLayoutId id="2147483683" r:id="rId21"/>
    <p:sldLayoutId id="2147483672" r:id="rId22"/>
    <p:sldLayoutId id="2147483674" r:id="rId23"/>
    <p:sldLayoutId id="2147483665" r:id="rId24"/>
    <p:sldLayoutId id="2147483676" r:id="rId25"/>
  </p:sldLayoutIdLst>
  <p:hf hd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9388" indent="-179388" algn="l" defTabSz="914400" rtl="0" eaLnBrk="1" latinLnBrk="0" hangingPunct="1">
        <a:spcBef>
          <a:spcPts val="40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4150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3" indent="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73150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614488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</p15:sldGuideLst>
    </p:ext>
  </p:extLst>
</p:sldMaster>
</file>

<file path=ppt/slides/_rels/gen_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  <Relationship Id="rId3" Type="http://schemas.openxmlformats.org/officeDocument/2006/relationships/image" Target="../media/gen_image_d49b52a8bbe11eb7.png"/>
</Relationships>
</file>

<file path=ppt/slides/_rels/gen_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  <Relationship Id="rId3" Type="http://schemas.openxmlformats.org/officeDocument/2006/relationships/image" Target="../media/gen_image_ebd9372d2b146d5d.png"/>
</Relationships>
</file>

<file path=ppt/slides/_rels/gen_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</Relationships>
</file>

<file path=ppt/slides/_rels/gen_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gen_slideLayout7.xml"/>
  <Relationship Id="rId2" Type="http://schemas.openxmlformats.org/officeDocument/2006/relationships/image" Target="../media/gen_image_b88a0f9fdce2ccfe.png"/>
  <Relationship Id="rId3" Type="http://schemas.openxmlformats.org/officeDocument/2006/relationships/image" Target="../media/gen_image_4d1a921651b4bc34.png"/>
</Relationships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Relationship Id="rId6" Type="http://schemas.openxmlformats.org/officeDocument/2006/relationships/image" Target="../media/company_cover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gen_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35466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Beyond Text-to-Slides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8130435" cy="352044"/>
            <a:chOff x="514731" y="1101090"/>
            <a:chExt cx="8130435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81304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complete production lifecycle—not a one-shot content shortcut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3875" y="1714500"/>
            <a:ext cx="2762250" cy="4095750"/>
            <a:chOff x="523875" y="1714500"/>
            <a:chExt cx="2762250" cy="4095750"/>
          </a:xfrm>
        </p:grpSpPr>
        <p:sp>
          <p:nvSpPr>
            <p:cNvPr id="9" name="Rectangle 9"/>
            <p:cNvSpPr/>
            <p:nvPr/>
          </p:nvSpPr>
          <p:spPr>
            <a:xfrm>
              <a:off x="523875" y="1714500"/>
              <a:ext cx="2762250" cy="4095750"/>
            </a:xfrm>
            <a:prstGeom prst="rect">
              <a:avLst/>
            </a:prstGeom>
            <a:solidFill>
              <a:schemeClr val="lt2">
                <a:alpha val="25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923" y="1970432"/>
              <a:ext cx="99600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NOT THIS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81050" y="230505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2923" y="2608607"/>
              <a:ext cx="1035759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 copy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2923" y="2941982"/>
              <a:ext cx="1804007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→ slide text dump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3429000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2923" y="3770657"/>
              <a:ext cx="156301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Fixed template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923" y="4104032"/>
              <a:ext cx="19332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→ automatic filling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" y="4591050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4954" y="4994910"/>
              <a:ext cx="2198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Fast output, weak control,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954" y="52425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limited narrative judgment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611373" y="1970432"/>
            <a:ext cx="8056752" cy="3382618"/>
            <a:chOff x="3611373" y="1970432"/>
            <a:chExt cx="8056752" cy="3382618"/>
          </a:xfrm>
        </p:grpSpPr>
        <p:sp>
          <p:nvSpPr>
            <p:cNvPr id="21" name="TextBox 21"/>
            <p:cNvSpPr txBox="1"/>
            <p:nvPr/>
          </p:nvSpPr>
          <p:spPr>
            <a:xfrm>
              <a:off x="3611373" y="1970432"/>
              <a:ext cx="171289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PPT GENERATOR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19500" y="2305050"/>
              <a:ext cx="8048625" cy="9525"/>
            </a:xfrm>
            <a:custGeom>
              <a:avLst/>
              <a:gdLst/>
              <a:ahLst/>
              <a:cxnLst/>
              <a:rect l="l" t="t" r="r" b="b"/>
              <a:pathLst>
                <a:path w="8048625" h="9525">
                  <a:moveTo>
                    <a:pt x="0" y="0"/>
                  </a:moveTo>
                  <a:lnTo>
                    <a:pt x="8048625" y="0"/>
                  </a:lnTo>
                </a:path>
              </a:pathLst>
            </a:custGeom>
            <a:noFill/>
            <a:ln w="19050">
              <a:solidFill>
                <a:srgbClr val="97CB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114800" y="3219450"/>
              <a:ext cx="6886575" cy="1"/>
            </a:xfrm>
            <a:prstGeom prst="line">
              <a:avLst/>
            </a:prstGeom>
            <a:noFill/>
            <a:ln w="4762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4" name="Ellipse 24"/>
            <p:cNvSpPr/>
            <p:nvPr/>
          </p:nvSpPr>
          <p:spPr>
            <a:xfrm>
              <a:off x="3771900" y="28956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895850" y="2895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19800" y="2895600"/>
              <a:ext cx="647700" cy="64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143750" y="28956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267700" y="2895600"/>
              <a:ext cx="647700" cy="647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391650" y="28956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515600" y="28956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2542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937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7332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9727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2122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4517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69129" y="31229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11702" y="3699510"/>
              <a:ext cx="768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Materials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66843" y="3699510"/>
              <a:ext cx="90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Understand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77820" y="3699510"/>
              <a:ext cx="33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52088" y="3699510"/>
              <a:ext cx="6310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Confirm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6775" y="3699510"/>
              <a:ext cx="5095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84766" y="3699510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Brand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64292" y="3699510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Export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10000" y="4552950"/>
              <a:ext cx="7572375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87623" y="4723157"/>
              <a:ext cx="1085898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Traceable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8873" y="4723157"/>
              <a:ext cx="121032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Repeatable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50123" y="4723157"/>
              <a:ext cx="904524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Editable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89654" y="5033010"/>
              <a:ext cx="176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Evidence and decisions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0904" y="5033010"/>
              <a:ext cx="1875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Artifacts and workflow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52154" y="5033010"/>
              <a:ext cx="207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Native PowerPoint objects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54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08C246E7-A3BB-4500-89A3-FF289A0C61BD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3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494549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Materials Become Task Context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8440941" cy="352044"/>
            <a:chOff x="514731" y="1101090"/>
            <a:chExt cx="8440941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84409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Normalize once. Reuse broadly. Freeze the evidence basis per task.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3875" y="1638300"/>
            <a:ext cx="5810250" cy="4095750"/>
            <a:chOff x="523875" y="1638300"/>
            <a:chExt cx="5810250" cy="4095750"/>
          </a:xfrm>
        </p:grpSpPr>
        <p:sp>
          <p:nvSpPr>
            <p:cNvPr id="9" name="Rectangle 9"/>
            <p:cNvSpPr/>
            <p:nvPr/>
          </p:nvSpPr>
          <p:spPr>
            <a:xfrm>
              <a:off x="523875" y="1638300"/>
              <a:ext cx="5810250" cy="4095750"/>
            </a:xfrm>
            <a:prstGeom prst="rect">
              <a:avLst/>
            </a:prstGeom>
            <a:solidFill>
              <a:schemeClr val="lt2">
                <a:alpha val="18000"/>
              </a:schemeClr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809750"/>
              <a:ext cx="5486400" cy="3657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5219700"/>
              <a:ext cx="54864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204" y="5328285"/>
              <a:ext cx="4787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PDF · Word · PowerPoint · Excel · Markdown · Text · Images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53200" y="1638300"/>
            <a:ext cx="5114925" cy="3943350"/>
            <a:chOff x="6553200" y="1638300"/>
            <a:chExt cx="5114925" cy="3943350"/>
          </a:xfrm>
        </p:grpSpPr>
        <p:sp>
          <p:nvSpPr>
            <p:cNvPr id="14" name="Line 14"/>
            <p:cNvSpPr/>
            <p:nvPr/>
          </p:nvSpPr>
          <p:spPr>
            <a:xfrm>
              <a:off x="6553200" y="3686175"/>
              <a:ext cx="3048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58000" y="1638300"/>
              <a:ext cx="4810125" cy="1095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97523" y="1827557"/>
              <a:ext cx="1438085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NORMALIZE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99554" y="2194560"/>
              <a:ext cx="31344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Text · Markdown · tables · image facts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0" y="2895600"/>
              <a:ext cx="4810125" cy="1095375"/>
            </a:xfrm>
            <a:prstGeom prst="rect">
              <a:avLst/>
            </a:prstGeom>
            <a:solidFill>
              <a:schemeClr val="lt2">
                <a:alpha val="35000"/>
              </a:schemeClr>
            </a:solidFill>
            <a:ln w="952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97523" y="3084857"/>
              <a:ext cx="87652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REUSE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9554" y="3451860"/>
              <a:ext cx="3372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Persistent material library + material Q&amp;A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0" y="4152900"/>
              <a:ext cx="4810125" cy="1428750"/>
            </a:xfrm>
            <a:prstGeom prst="rect">
              <a:avLst/>
            </a:prstGeom>
            <a:solidFill>
              <a:schemeClr val="accent5">
                <a:alpha val="55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97523" y="4342157"/>
              <a:ext cx="131860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SNAPSHOT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9554" y="4709160"/>
              <a:ext cx="3660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Each task receives an isolated evidence basis.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9554" y="4994910"/>
              <a:ext cx="3838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Later source edits or deletion cannot change it.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9554" y="5280660"/>
              <a:ext cx="241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Result: reproducible context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28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E8719BA-BF53-4D04-ADD7-9C47A6D037EB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4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293038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 Before Design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8385835" cy="352044"/>
            <a:chOff x="514731" y="1101090"/>
            <a:chExt cx="8385835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83858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Solve “what the deck must say” before “how each page should look”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3875" y="1714500"/>
            <a:ext cx="4572000" cy="3714750"/>
            <a:chOff x="523875" y="1714500"/>
            <a:chExt cx="4572000" cy="3714750"/>
          </a:xfrm>
        </p:grpSpPr>
        <p:sp>
          <p:nvSpPr>
            <p:cNvPr id="9" name="Rectangle 9"/>
            <p:cNvSpPr/>
            <p:nvPr/>
          </p:nvSpPr>
          <p:spPr>
            <a:xfrm>
              <a:off x="523875" y="1714500"/>
              <a:ext cx="4572000" cy="3714750"/>
            </a:xfrm>
            <a:prstGeom prst="rect">
              <a:avLst/>
            </a:prstGeom>
            <a:solidFill>
              <a:schemeClr val="lt2">
                <a:alpha val="25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1498" y="1960907"/>
              <a:ext cx="2131078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UNDERSTAND + PLAN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33450" y="25527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86979" y="27800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83335" y="2624799"/>
              <a:ext cx="2939837" cy="28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audience, facts, purpose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84604" y="2937510"/>
              <a:ext cx="2424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Identify the communication job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33450" y="35242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86979" y="375160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83335" y="3596349"/>
              <a:ext cx="3300948" cy="283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Retain, merge, compare, visualize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84604" y="3909060"/>
              <a:ext cx="30219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Turn material into narrative decisions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33450" y="44958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6979" y="4723157"/>
              <a:ext cx="14064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2573" y="4551707"/>
              <a:ext cx="2888689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Author a page-by-page plan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4604" y="4880610"/>
              <a:ext cx="2950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Title · task · claim · support · visual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95875" y="2286000"/>
            <a:ext cx="1809750" cy="2571750"/>
            <a:chOff x="5095875" y="2286000"/>
            <a:chExt cx="1809750" cy="2571750"/>
          </a:xfrm>
        </p:grpSpPr>
        <p:sp>
          <p:nvSpPr>
            <p:cNvPr id="24" name="Line 24"/>
            <p:cNvSpPr/>
            <p:nvPr/>
          </p:nvSpPr>
          <p:spPr>
            <a:xfrm>
              <a:off x="5095875" y="3571875"/>
              <a:ext cx="314325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5" name="Polygon 25"/>
            <p:cNvSpPr/>
            <p:nvPr/>
          </p:nvSpPr>
          <p:spPr>
            <a:xfrm>
              <a:off x="5286375" y="2286000"/>
              <a:ext cx="1619250" cy="2571750"/>
            </a:xfrm>
            <a:custGeom>
              <a:avLst/>
              <a:gdLst/>
              <a:ahLst/>
              <a:cxnLst/>
              <a:rect l="l" t="t" r="r" b="b"/>
              <a:pathLst>
                <a:path w="1619250" h="2571750">
                  <a:moveTo>
                    <a:pt x="809625" y="0"/>
                  </a:moveTo>
                  <a:lnTo>
                    <a:pt x="1619250" y="1285875"/>
                  </a:lnTo>
                  <a:lnTo>
                    <a:pt x="809625" y="2571750"/>
                  </a:lnTo>
                  <a:lnTo>
                    <a:pt x="0" y="1285875"/>
                  </a:lnTo>
                  <a:close/>
                </a:path>
              </a:pathLst>
            </a:cu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92025" y="3161057"/>
              <a:ext cx="100795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EDITABLE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3843" y="3465857"/>
              <a:ext cx="924314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OUTLINE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3342" y="3870960"/>
              <a:ext cx="1385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human checkpoint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81800" y="1714500"/>
            <a:ext cx="4886325" cy="3714750"/>
            <a:chOff x="6781800" y="1714500"/>
            <a:chExt cx="4886325" cy="3714750"/>
          </a:xfrm>
        </p:grpSpPr>
        <p:sp>
          <p:nvSpPr>
            <p:cNvPr id="30" name="Line 30"/>
            <p:cNvSpPr/>
            <p:nvPr/>
          </p:nvSpPr>
          <p:spPr>
            <a:xfrm>
              <a:off x="6781800" y="3571875"/>
              <a:ext cx="36195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96125" y="1714500"/>
              <a:ext cx="4572000" cy="3714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73748" y="1960907"/>
              <a:ext cx="1987700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DESIGN + PRODUCE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381875" y="2524125"/>
              <a:ext cx="4000500" cy="628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83298" y="2732432"/>
              <a:ext cx="3652457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Create isolated project workspace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81875" y="3314700"/>
              <a:ext cx="40005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83298" y="3523007"/>
              <a:ext cx="2963288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Apply brand and design rules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381875" y="4105275"/>
              <a:ext cx="4000500" cy="628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83298" y="4313582"/>
              <a:ext cx="3610049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Author, inspect, validate, export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5779" y="5033010"/>
              <a:ext cx="4250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confirmed plan becomes the production contract.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17779" y="5842635"/>
            <a:ext cx="10699737" cy="234696"/>
            <a:chOff x="517779" y="5842635"/>
            <a:chExt cx="10699737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517779" y="5842635"/>
              <a:ext cx="2691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Human actions before production: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79954" y="5842635"/>
              <a:ext cx="780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 title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32504" y="5842635"/>
              <a:ext cx="1010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Add / delete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2704" y="5842635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Reorder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32854" y="5842635"/>
              <a:ext cx="1841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Regenerate structure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42654" y="5842635"/>
              <a:ext cx="2174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or skip when already clear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49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0D785BF0-7E5D-4C49-AA01-5F3204483552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5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563573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 Governed Agent Executes the Plan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11217907" cy="352044"/>
            <a:chOff x="514731" y="1101090"/>
            <a:chExt cx="11217907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11217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makes judgment calls; the platform constrains scope, tools, artifacts, and completion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3875" y="1666875"/>
            <a:ext cx="3714750" cy="3714750"/>
            <a:chOff x="523875" y="1666875"/>
            <a:chExt cx="3714750" cy="3714750"/>
          </a:xfrm>
        </p:grpSpPr>
        <p:sp>
          <p:nvSpPr>
            <p:cNvPr id="9" name="Rectangle 9"/>
            <p:cNvSpPr/>
            <p:nvPr/>
          </p:nvSpPr>
          <p:spPr>
            <a:xfrm>
              <a:off x="523875" y="1666875"/>
              <a:ext cx="3714750" cy="3714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923" y="1884707"/>
              <a:ext cx="2668745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CONTROL ENVELOPE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81050" y="2238375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97CB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2457450"/>
              <a:ext cx="1143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673" y="2513357"/>
              <a:ext cx="17671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Project isolation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704" y="2775585"/>
              <a:ext cx="2634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Only the current task workspace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3133725"/>
              <a:ext cx="1143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8673" y="3189632"/>
              <a:ext cx="1573828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Approved tools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704" y="3451860"/>
              <a:ext cx="2504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Explicit scripts and capabilities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3810000"/>
              <a:ext cx="114300" cy="514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8673" y="3865907"/>
              <a:ext cx="199365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Required artifacts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0704" y="4128135"/>
              <a:ext cx="2093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Plan · SVG · checks · PPTX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4486275"/>
              <a:ext cx="114300" cy="5143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8673" y="4542182"/>
              <a:ext cx="2284607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Protected boundaries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0704" y="4804410"/>
              <a:ext cx="2723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No system or cross-user mutation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76750" y="1666875"/>
            <a:ext cx="7191375" cy="3714750"/>
            <a:chOff x="4476750" y="1666875"/>
            <a:chExt cx="7191375" cy="3714750"/>
          </a:xfrm>
        </p:grpSpPr>
        <p:sp>
          <p:nvSpPr>
            <p:cNvPr id="25" name="Rectangle 25"/>
            <p:cNvSpPr/>
            <p:nvPr/>
          </p:nvSpPr>
          <p:spPr>
            <a:xfrm>
              <a:off x="4476750" y="1666875"/>
              <a:ext cx="7191375" cy="3714750"/>
            </a:xfrm>
            <a:prstGeom prst="rect">
              <a:avLst/>
            </a:prstGeom>
            <a:solidFill>
              <a:schemeClr val="lt2">
                <a:alpha val="14000"/>
              </a:schemeClr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0" y="1790700"/>
              <a:ext cx="5172075" cy="3448050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523875" y="5572125"/>
            <a:ext cx="11144250" cy="666750"/>
            <a:chOff x="523875" y="5572125"/>
            <a:chExt cx="11144250" cy="666750"/>
          </a:xfrm>
        </p:grpSpPr>
        <p:sp>
          <p:nvSpPr>
            <p:cNvPr id="28" name="Rectangle 28"/>
            <p:cNvSpPr/>
            <p:nvPr/>
          </p:nvSpPr>
          <p:spPr>
            <a:xfrm>
              <a:off x="523875" y="5572125"/>
              <a:ext cx="5476875" cy="666750"/>
            </a:xfrm>
            <a:prstGeom prst="rect">
              <a:avLst/>
            </a:prstGeom>
            <a:solidFill>
              <a:schemeClr val="lt2">
                <a:alpha val="35000"/>
              </a:scheme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6854" y="5699760"/>
              <a:ext cx="109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OWNS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854" y="5966460"/>
              <a:ext cx="4056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Synthesis · narrative · hierarchy · visual judgment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191250" y="5572125"/>
              <a:ext cx="5476875" cy="666750"/>
            </a:xfrm>
            <a:prstGeom prst="rect">
              <a:avLst/>
            </a:prstGeom>
            <a:solidFill>
              <a:schemeClr val="accent5">
                <a:alpha val="55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04229" y="5699760"/>
              <a:ext cx="1159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SYSTEM OWNS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04229" y="5966460"/>
              <a:ext cx="4032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Boundaries · tools · files · gates · export criteria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36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9CA95601-8150-42B9-BDD1-829FDE4D547D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6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4770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SVG Is the Page-Design Source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11478974" cy="352044"/>
            <a:chOff x="514731" y="1101090"/>
            <a:chExt cx="11478974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11478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One inspectable visual source bridges generative design and editable PowerPoint engineering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3875" y="1666875"/>
            <a:ext cx="4476750" cy="3952875"/>
            <a:chOff x="523875" y="1666875"/>
            <a:chExt cx="4476750" cy="3952875"/>
          </a:xfrm>
        </p:grpSpPr>
        <p:sp>
          <p:nvSpPr>
            <p:cNvPr id="9" name="Rectangle 9"/>
            <p:cNvSpPr/>
            <p:nvPr/>
          </p:nvSpPr>
          <p:spPr>
            <a:xfrm>
              <a:off x="523875" y="1666875"/>
              <a:ext cx="4476750" cy="395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7433" y="1836420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SVG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4579" y="1946910"/>
              <a:ext cx="1855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PAGE-DESIGN BLUEPRINT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09625" y="2286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9625" y="2571750"/>
              <a:ext cx="171450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0573" y="2808632"/>
              <a:ext cx="49682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Text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714625" y="2571750"/>
              <a:ext cx="17145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25573" y="2808632"/>
              <a:ext cx="73375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Shapes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" y="3448050"/>
              <a:ext cx="17145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0573" y="3684932"/>
              <a:ext cx="72288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Images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14625" y="3448050"/>
              <a:ext cx="1714500" cy="685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25573" y="3684932"/>
              <a:ext cx="1271956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Coordinates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4324350"/>
              <a:ext cx="361950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0573" y="4456457"/>
              <a:ext cx="152170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Size + z-order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604" y="4747260"/>
              <a:ext cx="2683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Complete, previewable, checkable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00625" y="2847975"/>
            <a:ext cx="2333625" cy="1447800"/>
            <a:chOff x="5000625" y="2847975"/>
            <a:chExt cx="2333625" cy="1447800"/>
          </a:xfrm>
        </p:grpSpPr>
        <p:sp>
          <p:nvSpPr>
            <p:cNvPr id="25" name="Line 25"/>
            <p:cNvSpPr/>
            <p:nvPr/>
          </p:nvSpPr>
          <p:spPr>
            <a:xfrm>
              <a:off x="5000625" y="3571875"/>
              <a:ext cx="523875" cy="1"/>
            </a:xfrm>
            <a:prstGeom prst="line">
              <a:avLst/>
            </a:prstGeom>
            <a:noFill/>
            <a:ln w="4762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6" name="Ellipse 26"/>
            <p:cNvSpPr/>
            <p:nvPr/>
          </p:nvSpPr>
          <p:spPr>
            <a:xfrm>
              <a:off x="5372100" y="2847975"/>
              <a:ext cx="1447800" cy="144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600700" y="3076575"/>
              <a:ext cx="990600" cy="990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90729" y="3294407"/>
              <a:ext cx="41054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23454" y="3580157"/>
              <a:ext cx="74509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19900" y="3571875"/>
              <a:ext cx="514350" cy="1"/>
            </a:xfrm>
            <a:prstGeom prst="line">
              <a:avLst/>
            </a:prstGeom>
            <a:noFill/>
            <a:ln w="47625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7191375" y="1666875"/>
            <a:ext cx="4476750" cy="3952875"/>
            <a:chOff x="7191375" y="1666875"/>
            <a:chExt cx="4476750" cy="3952875"/>
          </a:xfrm>
        </p:grpSpPr>
        <p:sp>
          <p:nvSpPr>
            <p:cNvPr id="32" name="Rectangle 32"/>
            <p:cNvSpPr/>
            <p:nvPr/>
          </p:nvSpPr>
          <p:spPr>
            <a:xfrm>
              <a:off x="7191375" y="1666875"/>
              <a:ext cx="4476750" cy="3952875"/>
            </a:xfrm>
            <a:prstGeom prst="rect">
              <a:avLst/>
            </a:prstGeom>
            <a:solidFill>
              <a:schemeClr val="lt2">
                <a:alpha val="22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64933" y="1836420"/>
              <a:ext cx="8129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PPTX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3529" y="1946910"/>
              <a:ext cx="1625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DRAWINGML OBJECTS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477125" y="2286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77125" y="2609850"/>
              <a:ext cx="3619500" cy="4953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59498" y="2751482"/>
              <a:ext cx="2058485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Editable text boxes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67625" y="3257550"/>
              <a:ext cx="3429000" cy="495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49998" y="3399182"/>
              <a:ext cx="259747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Editable charts + shapes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858125" y="3905250"/>
              <a:ext cx="3238500" cy="4953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0498" y="4046882"/>
              <a:ext cx="2823554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Replaceable images + crops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048625" y="4552950"/>
              <a:ext cx="30480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30998" y="4694582"/>
              <a:ext cx="2122929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Packaged native file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15748" y="5923307"/>
            <a:ext cx="9331467" cy="312879"/>
            <a:chOff x="515748" y="5923307"/>
            <a:chExt cx="9331467" cy="312879"/>
          </a:xfrm>
        </p:grpSpPr>
        <p:sp>
          <p:nvSpPr>
            <p:cNvPr id="45" name="TextBox 45"/>
            <p:cNvSpPr txBox="1"/>
            <p:nvPr/>
          </p:nvSpPr>
          <p:spPr>
            <a:xfrm>
              <a:off x="515748" y="5923307"/>
              <a:ext cx="195775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Not screenshots.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25498" y="5923307"/>
              <a:ext cx="265849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Not a bitmap collection.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40123" y="5923307"/>
              <a:ext cx="480709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presentation people can continue to edit.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50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3B61AFBD-DDBB-4465-8D18-4C0BEAB221DC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7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59437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Three Systems, One Production Chain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10712178" cy="352044"/>
            <a:chOff x="514731" y="1101090"/>
            <a:chExt cx="1071217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10712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Clear boundaries let probabilistic intelligence and deterministic tooling work together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3875" y="1714500"/>
            <a:ext cx="3333750" cy="3714750"/>
            <a:chOff x="523875" y="1714500"/>
            <a:chExt cx="3333750" cy="3714750"/>
          </a:xfrm>
        </p:grpSpPr>
        <p:sp>
          <p:nvSpPr>
            <p:cNvPr id="9" name="Rectangle 9"/>
            <p:cNvSpPr/>
            <p:nvPr/>
          </p:nvSpPr>
          <p:spPr>
            <a:xfrm>
              <a:off x="523875" y="1714500"/>
              <a:ext cx="3333750" cy="3714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906" y="1948815"/>
              <a:ext cx="2142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WEB APPLICATION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4954" y="2366010"/>
              <a:ext cx="2166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Experience + orchestration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81050" y="26860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2923" y="2894357"/>
              <a:ext cx="2715280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Login and material library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2923" y="3284882"/>
              <a:ext cx="300075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Material Q&amp;A and task setup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923" y="3675407"/>
              <a:ext cx="2414227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 / style selection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923" y="4065932"/>
              <a:ext cx="2284270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Planning confirmation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923" y="4456457"/>
              <a:ext cx="2985876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Status · preview · download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4953000"/>
              <a:ext cx="2286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429125" y="1476375"/>
            <a:ext cx="3333750" cy="4191000"/>
            <a:chOff x="4429125" y="1476375"/>
            <a:chExt cx="3333750" cy="4191000"/>
          </a:xfrm>
        </p:grpSpPr>
        <p:sp>
          <p:nvSpPr>
            <p:cNvPr id="20" name="Rectangle 20"/>
            <p:cNvSpPr/>
            <p:nvPr/>
          </p:nvSpPr>
          <p:spPr>
            <a:xfrm>
              <a:off x="4429125" y="1476375"/>
              <a:ext cx="3333750" cy="419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77156" y="1710690"/>
              <a:ext cx="10667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AGENT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80204" y="2127885"/>
              <a:ext cx="1617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Judgment + creation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686300" y="24479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78173" y="2684807"/>
              <a:ext cx="2693986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Multi-step understanding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78173" y="3094382"/>
              <a:ext cx="2305870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Planning and decisions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8173" y="3503957"/>
              <a:ext cx="242467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Tool calls and file work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8173" y="3913532"/>
              <a:ext cx="2596810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Sequential page creation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8173" y="4323107"/>
              <a:ext cx="2575528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Quality-driven recovery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86300" y="4953000"/>
              <a:ext cx="2286000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80204" y="5213985"/>
              <a:ext cx="2277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Responses API execution loop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334375" y="1714500"/>
            <a:ext cx="3333750" cy="3714750"/>
            <a:chOff x="8334375" y="1714500"/>
            <a:chExt cx="3333750" cy="3714750"/>
          </a:xfrm>
        </p:grpSpPr>
        <p:sp>
          <p:nvSpPr>
            <p:cNvPr id="32" name="Rectangle 32"/>
            <p:cNvSpPr/>
            <p:nvPr/>
          </p:nvSpPr>
          <p:spPr>
            <a:xfrm>
              <a:off x="8334375" y="1714500"/>
              <a:ext cx="3333750" cy="3714750"/>
            </a:xfrm>
            <a:prstGeom prst="rect">
              <a:avLst/>
            </a:prstGeom>
            <a:solidFill>
              <a:schemeClr val="lt2">
                <a:alpha val="38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82406" y="1948815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PPT MASTER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85454" y="2366010"/>
              <a:ext cx="19797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Deterministic production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91550" y="26860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83423" y="2894357"/>
              <a:ext cx="2371021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File parsing + projects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83423" y="3284882"/>
              <a:ext cx="2511443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Images + template rules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83423" y="3675407"/>
              <a:ext cx="1652795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SVG page design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83423" y="4065932"/>
              <a:ext cx="156301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Quality checks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83423" y="4456457"/>
              <a:ext cx="202195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Native PPTX export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591550" y="4953000"/>
              <a:ext cx="2286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2095500" y="5810250"/>
            <a:ext cx="8001000" cy="524256"/>
            <a:chOff x="2095500" y="5810250"/>
            <a:chExt cx="8001000" cy="524256"/>
          </a:xfrm>
        </p:grpSpPr>
        <p:sp>
          <p:nvSpPr>
            <p:cNvPr id="43" name="Line 43"/>
            <p:cNvSpPr/>
            <p:nvPr/>
          </p:nvSpPr>
          <p:spPr>
            <a:xfrm>
              <a:off x="2190750" y="5905500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2095500" y="5810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000750" y="5810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906000" y="5810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27493" y="6099810"/>
              <a:ext cx="4137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task state and metadata persisted in SQLite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50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16D029DD-8D38-47AD-8F9D-3BA25FD38261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8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503391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Enterprise Controls Are Built In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01090"/>
            <a:ext cx="10585509" cy="352044"/>
            <a:chOff x="514731" y="1101090"/>
            <a:chExt cx="10585509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01090"/>
              <a:ext cx="10585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Trust comes from explicit boundaries and durable artifacts—not model behavior alone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1666875"/>
            <a:ext cx="5810250" cy="4314825"/>
            <a:chOff x="476250" y="1666875"/>
            <a:chExt cx="5810250" cy="4314825"/>
          </a:xfrm>
        </p:grpSpPr>
        <p:sp>
          <p:nvSpPr>
            <p:cNvPr id="9" name="Ellipse 9"/>
            <p:cNvSpPr/>
            <p:nvPr/>
          </p:nvSpPr>
          <p:spPr>
            <a:xfrm>
              <a:off x="1428750" y="1857375"/>
              <a:ext cx="3905250" cy="3905250"/>
            </a:xfrm>
            <a:prstGeom prst="ellipse">
              <a:avLst/>
            </a:prstGeom>
            <a:solidFill>
              <a:schemeClr val="lt2">
                <a:alpha val="20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314575" y="274320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87518" y="3520440"/>
              <a:ext cx="118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ISOLATED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64918" y="3844290"/>
              <a:ext cx="1832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PROJECT CORE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381375" y="196215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7810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305300" y="2876550"/>
              <a:ext cx="695325" cy="400050"/>
            </a:xfrm>
            <a:custGeom>
              <a:avLst/>
              <a:gdLst/>
              <a:ahLst/>
              <a:cxnLst/>
              <a:rect l="l" t="t" r="r" b="b"/>
              <a:pathLst>
                <a:path w="695325" h="400050">
                  <a:moveTo>
                    <a:pt x="0" y="400050"/>
                  </a:moveTo>
                  <a:lnTo>
                    <a:pt x="69532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305300" y="4343400"/>
              <a:ext cx="695325" cy="400050"/>
            </a:xfrm>
            <a:custGeom>
              <a:avLst/>
              <a:gdLst/>
              <a:ahLst/>
              <a:cxnLst/>
              <a:rect l="l" t="t" r="r" b="b"/>
              <a:pathLst>
                <a:path w="695325" h="400050">
                  <a:moveTo>
                    <a:pt x="0" y="0"/>
                  </a:moveTo>
                  <a:lnTo>
                    <a:pt x="695325" y="4000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381375" y="487680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762125" y="4343400"/>
              <a:ext cx="695325" cy="400050"/>
            </a:xfrm>
            <a:custGeom>
              <a:avLst/>
              <a:gdLst/>
              <a:ahLst/>
              <a:cxnLst/>
              <a:rect l="l" t="t" r="r" b="b"/>
              <a:pathLst>
                <a:path w="695325" h="400050">
                  <a:moveTo>
                    <a:pt x="695325" y="0"/>
                  </a:moveTo>
                  <a:lnTo>
                    <a:pt x="0" y="40005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762125" y="2876550"/>
              <a:ext cx="695325" cy="400050"/>
            </a:xfrm>
            <a:custGeom>
              <a:avLst/>
              <a:gdLst/>
              <a:ahLst/>
              <a:cxnLst/>
              <a:rect l="l" t="t" r="r" b="b"/>
              <a:pathLst>
                <a:path w="695325" h="400050">
                  <a:moveTo>
                    <a:pt x="695325" y="4000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43175" y="1666875"/>
              <a:ext cx="16764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17546" y="1870710"/>
              <a:ext cx="1527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Material snapshots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762500" y="2571750"/>
              <a:ext cx="15240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66948" y="2718435"/>
              <a:ext cx="915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User / task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9162" y="2918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isolation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62500" y="4457700"/>
              <a:ext cx="152400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32022" y="4604385"/>
              <a:ext cx="784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Planning +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1463" y="480441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quality gates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43175" y="5429250"/>
              <a:ext cx="1676400" cy="55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96422" y="5633085"/>
              <a:ext cx="176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Native editable output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76250" y="4457700"/>
              <a:ext cx="1524000" cy="60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2884" y="4604385"/>
              <a:ext cx="1350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Brand + template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333" y="480441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contracts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" y="2571750"/>
              <a:ext cx="15240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7900" y="2718435"/>
              <a:ext cx="1140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Scoped tools 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7715" y="29184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permissions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49873" y="1875182"/>
            <a:ext cx="4951849" cy="3649318"/>
            <a:chOff x="6849873" y="1875182"/>
            <a:chExt cx="4951849" cy="3649318"/>
          </a:xfrm>
        </p:grpSpPr>
        <p:sp>
          <p:nvSpPr>
            <p:cNvPr id="36" name="TextBox 36"/>
            <p:cNvSpPr txBox="1"/>
            <p:nvPr/>
          </p:nvSpPr>
          <p:spPr>
            <a:xfrm>
              <a:off x="6849873" y="1875182"/>
              <a:ext cx="2250559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OPERATING EVIDENCE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858000" y="2238375"/>
              <a:ext cx="4810125" cy="9525"/>
            </a:xfrm>
            <a:custGeom>
              <a:avLst/>
              <a:gdLst/>
              <a:ahLst/>
              <a:cxnLst/>
              <a:rect l="l" t="t" r="r" b="b"/>
              <a:pathLst>
                <a:path w="4810125" h="9525">
                  <a:moveTo>
                    <a:pt x="0" y="0"/>
                  </a:moveTo>
                  <a:lnTo>
                    <a:pt x="4810125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0" y="2476500"/>
              <a:ext cx="4810125" cy="800100"/>
            </a:xfrm>
            <a:prstGeom prst="rect">
              <a:avLst/>
            </a:prstGeom>
            <a:solidFill>
              <a:schemeClr val="lt2">
                <a:alpha val="35000"/>
              </a:scheme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97523" y="2627657"/>
              <a:ext cx="2144929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confirmed plan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9554" y="2956560"/>
              <a:ext cx="4702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Run through multiple text models for controlled comparison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58000" y="3448050"/>
              <a:ext cx="4810125" cy="800100"/>
            </a:xfrm>
            <a:prstGeom prst="rect">
              <a:avLst/>
            </a:prstGeom>
            <a:solidFill>
              <a:schemeClr val="lt2">
                <a:alpha val="35000"/>
              </a:scheme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97523" y="3599207"/>
              <a:ext cx="3561407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Stepwise Responses API execution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9554" y="3928110"/>
              <a:ext cx="3603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A7A7A"/>
                  </a:solidFill>
                  <a:latin typeface="+mn-lt"/>
                  <a:ea typeface="+mn-ea"/>
                  <a:cs typeface="+mn-cs"/>
                </a:rPr>
                <a:t>Auditable tool calls—not one oversized prompt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0" y="4419600"/>
              <a:ext cx="4810125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97523" y="4580282"/>
              <a:ext cx="2906910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Governance artifact chain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9554" y="4937760"/>
              <a:ext cx="4205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Materials → plan → project files → SVG → checks → PPTX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9554" y="5185410"/>
              <a:ext cx="3821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Each stage leaves something inspectable behind.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50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E751AB5-C6D8-4CCE-B547-128C2ABE4165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9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gen_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1683" y="264795"/>
            <a:ext cx="31080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Strategic Value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406" y="485775"/>
            <a:ext cx="1206587" cy="138112"/>
          </a:xfrm>
          <a:prstGeom prst="rect">
            <a:avLst/>
          </a:prstGeom>
        </p:spPr>
      </p:pic>
      <p:sp>
        <p:nvSpPr>
          <p:cNvPr id="5" name="Line 5"/>
          <p:cNvSpPr/>
          <p:nvPr/>
        </p:nvSpPr>
        <p:spPr>
          <a:xfrm>
            <a:off x="11671935" y="466725"/>
            <a:ext cx="9525" cy="288608"/>
          </a:xfrm>
          <a:custGeom>
            <a:avLst/>
            <a:gdLst/>
            <a:ahLst/>
            <a:cxnLst/>
            <a:rect l="l" t="t" r="r" b="b"/>
            <a:pathLst>
              <a:path w="9525" h="288608">
                <a:moveTo>
                  <a:pt x="0" y="0"/>
                </a:moveTo>
                <a:lnTo>
                  <a:pt x="0" y="288608"/>
                </a:lnTo>
              </a:path>
            </a:pathLst>
          </a:custGeom>
          <a:noFill/>
          <a:ln w="6382">
            <a:solidFill>
              <a:srgbClr val="FFFFF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14731" y="1120140"/>
            <a:ext cx="11005306" cy="352044"/>
            <a:chOff x="514731" y="1120140"/>
            <a:chExt cx="11005306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14731" y="1120140"/>
              <a:ext cx="11005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Scale expert presentation work without flattening judgment, governance, or editability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" y="1714500"/>
            <a:ext cx="5334000" cy="3714750"/>
            <a:chOff x="523875" y="1714500"/>
            <a:chExt cx="5334000" cy="3714750"/>
          </a:xfrm>
        </p:grpSpPr>
        <p:sp>
          <p:nvSpPr>
            <p:cNvPr id="9" name="Rectangle 9"/>
            <p:cNvSpPr/>
            <p:nvPr/>
          </p:nvSpPr>
          <p:spPr>
            <a:xfrm>
              <a:off x="523875" y="1714500"/>
              <a:ext cx="5334000" cy="3714750"/>
            </a:xfrm>
            <a:prstGeom prst="rect">
              <a:avLst/>
            </a:prstGeom>
            <a:solidFill>
              <a:schemeClr val="lt2">
                <a:alpha val="16000"/>
              </a:schemeClr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131" y="1857375"/>
              <a:ext cx="5043488" cy="3362325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6226683" y="1884707"/>
            <a:ext cx="5441442" cy="2121127"/>
            <a:chOff x="6226683" y="1884707"/>
            <a:chExt cx="5441442" cy="2121127"/>
          </a:xfrm>
        </p:grpSpPr>
        <p:sp>
          <p:nvSpPr>
            <p:cNvPr id="12" name="TextBox 12"/>
            <p:cNvSpPr txBox="1"/>
            <p:nvPr/>
          </p:nvSpPr>
          <p:spPr>
            <a:xfrm>
              <a:off x="6230748" y="1884707"/>
              <a:ext cx="2298352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VALUE EQUATION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238875" y="22479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26683" y="2465070"/>
              <a:ext cx="33253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Enterprise evidence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9731" y="2929890"/>
              <a:ext cx="42951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 human direction and key judgments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29731" y="3291840"/>
              <a:ext cx="37418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 AI understanding and creation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29731" y="3653790"/>
              <a:ext cx="37257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 deterministic file engineering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38875" y="4171950"/>
            <a:ext cx="5429250" cy="952500"/>
            <a:chOff x="6238875" y="4171950"/>
            <a:chExt cx="5429250" cy="952500"/>
          </a:xfrm>
        </p:grpSpPr>
        <p:sp>
          <p:nvSpPr>
            <p:cNvPr id="19" name="Rectangle 19"/>
            <p:cNvSpPr/>
            <p:nvPr/>
          </p:nvSpPr>
          <p:spPr>
            <a:xfrm>
              <a:off x="6238875" y="4171950"/>
              <a:ext cx="542925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15481" y="4358640"/>
              <a:ext cx="2926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Continuously producible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16498" y="4704107"/>
              <a:ext cx="4302554" cy="312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brand-compliant, editable presentations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3875" y="5619750"/>
            <a:ext cx="11144250" cy="619125"/>
            <a:chOff x="523875" y="5619750"/>
            <a:chExt cx="11144250" cy="619125"/>
          </a:xfrm>
        </p:grpSpPr>
        <p:sp>
          <p:nvSpPr>
            <p:cNvPr id="23" name="Rectangle 23"/>
            <p:cNvSpPr/>
            <p:nvPr/>
          </p:nvSpPr>
          <p:spPr>
            <a:xfrm>
              <a:off x="523875" y="5619750"/>
              <a:ext cx="3476625" cy="619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8279" y="5756910"/>
              <a:ext cx="160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LESS MANUAL WORK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279" y="5995035"/>
              <a:ext cx="2311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7CBFF"/>
                  </a:solidFill>
                  <a:latin typeface="+mn-lt"/>
                  <a:ea typeface="+mn-ea"/>
                  <a:cs typeface="+mn-cs"/>
                </a:rPr>
                <a:t>Synthesis and layout at scale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38625" y="5619750"/>
              <a:ext cx="3476625" cy="619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23029" y="5756910"/>
              <a:ext cx="1607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MORE CONSISTENCY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23029" y="5995035"/>
              <a:ext cx="2181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Narrative and visual quality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53375" y="5619750"/>
              <a:ext cx="3714750" cy="619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37779" y="5756910"/>
              <a:ext cx="1383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DURABLE OUTPUT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7779" y="5995035"/>
              <a:ext cx="2868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Reusable assets—not ephemeral chat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072047" y="6647788"/>
            <a:ext cx="1610366" cy="1572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00" dirty="0">
                <a:solidFill>
                  <a:srgbClr val="7A7A7A"/>
                </a:solidFill>
                <a:latin typeface="+mn-lt"/>
                <a:ea typeface="+mn-ea"/>
                <a:cs typeface="+mn-cs"/>
              </a:rPr>
              <a:t>For internal use - Confidential</a:t>
            </a:r>
          </a:p>
        </p:txBody>
      </p:sp>
      <p:sp>
        <p:nvSpPr>
          <p:cNvPr id="34" name="Company Slide Number"/>
          <p:cNvSpPr txBox="1"/>
          <p:nvPr/>
        </p:nvSpPr>
        <p:spPr>
          <a:xfrm>
            <a:off x="11664000" y="327719"/>
            <a:ext cx="528000" cy="432000"/>
          </a:xfrm>
          <a:prstGeom prst="rect">
            <a:avLst/>
          </a:prstGeom>
          <a:noFill/>
          <a:ln>
            <a:noFill/>
          </a:ln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4DE39BDE-B09A-4B0F-9EBC-DBF0CD4FC2D1}" type="slidenum">
              <a:rPr lang="en-US" noProof="1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pPr/>
              <a:t>10</a:t>
            </a:fld>
            <a:endParaRPr lang="en-US" noProof="1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endParaRPr lang="en-US" sz="3200" b="1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8" name="Company Cover Image" descr="company_cover_hero.png"/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t="27968" b="27968"/>
          <a:stretch>
            <a:fillRect/>
          </a:stretch>
        </p:blipFill>
        <p:spPr/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PPT Generator 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面向集团AI负责人的企业演示文稿生产系统</a:t>
            </a:r>
          </a:p>
          <a:p>
            <a:r>
              <a:rPr lang="zh-CN" altLang="en-US" dirty="0"/>
              <a:t>2026年8月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C9B3CF-D017-4CF1-BB5E-7BB514D90D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2572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98012" y="1485900"/>
            <a:ext cx="12375443" cy="491500"/>
            <a:chOff x="1198012" y="1485900"/>
            <a:chExt cx="12375443" cy="491500"/>
          </a:xfrm>
        </p:grpSpPr>
        <p:sp>
          <p:nvSpPr>
            <p:cNvPr id="4" name="Gleichschenkliges Dreieck 3"/>
            <p:cNvSpPr/>
            <p:nvPr/>
          </p:nvSpPr>
          <p:spPr>
            <a:xfrm rot="16200000">
              <a:off x="12335904" y="1623636"/>
              <a:ext cx="287874" cy="2160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198012" y="1485900"/>
              <a:ext cx="10501811" cy="4915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b="1" dirty="0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12637325" y="1531740"/>
              <a:ext cx="936130" cy="3998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36000" bIns="0" rtlCol="0" anchor="ctr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To shift Highlight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Click the arrow, press shift key and move top or bottom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527050" y="6645600"/>
            <a:ext cx="11137900" cy="15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For internal use - Confidential</a:t>
            </a:r>
            <a:endParaRPr lang="en-US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0365486"/>
              </p:ext>
            </p:extLst>
          </p:nvPr>
        </p:nvGraphicFramePr>
        <p:xfrm>
          <a:off x="497066" y="1477762"/>
          <a:ext cx="11202757" cy="4536000"/>
        </p:xfrm>
        <a:graphic>
          <a:graphicData uri="http://schemas.openxmlformats.org/drawingml/2006/table">
            <a:tbl>
              <a:tblPr firstRow="1" firstCol="1" bandRow="1">
                <a:solidFill>
                  <a:srgbClr val="FFFFFF">
                    <a:alpha val="20000"/>
                  </a:srgbClr>
                </a:solidFill>
              </a:tblPr>
              <a:tblGrid>
                <a:gridCol w="67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超越文案生成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材料成为任务上下文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先规划再设计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受控Agent执行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SVG到原生PPTX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三部分协同系统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企业级控制机制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战略价值</a:t>
                      </a:r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8627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s5uiHu5zdwM59R52ZEx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rdrqVoeX2ywA4Mq.l9I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NYFKDxYUOOjb5ONPuTRA"/>
</p:tagLst>
</file>

<file path=ppt/theme/gen_theme1.xml><?xml version="1.0" encoding="utf-8"?>
<a:theme xmlns:a="http://schemas.openxmlformats.org/drawingml/2006/main" name="web_68ed86f6b68c">
  <a:themeElements>
    <a:clrScheme name="web_68ed86f6b68c">
      <a:dk1>
        <a:srgbClr val="1F2937"/>
      </a:dk1>
      <a:lt1>
        <a:srgbClr val="FFFFFF"/>
      </a:lt1>
      <a:dk2>
        <a:srgbClr val="1F497D"/>
      </a:dk2>
      <a:lt2>
        <a:srgbClr val="97CBFF"/>
      </a:lt2>
      <a:accent1>
        <a:srgbClr val="004696"/>
      </a:accent1>
      <a:accent2>
        <a:srgbClr val="56A410"/>
      </a:accent2>
      <a:accent3>
        <a:srgbClr val="3399FF"/>
      </a:accent3>
      <a:accent4>
        <a:srgbClr val="004696"/>
      </a:accent4>
      <a:accent5>
        <a:srgbClr val="BEF38E"/>
      </a:accent5>
      <a:accent6>
        <a:srgbClr val="E69400"/>
      </a:accent6>
      <a:hlink>
        <a:srgbClr val="56A410"/>
      </a:hlink>
      <a:folHlink>
        <a:srgbClr val="3399FF"/>
      </a:folHlink>
    </a:clrScheme>
    <a:fontScheme name="web_68ed86f6b68c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b_68ed86f6b68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Blank Final 2023-03-23">
  <a:themeElements>
    <a:clrScheme name="METTLER TOLEDO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56A410"/>
      </a:accent1>
      <a:accent2>
        <a:srgbClr val="004696"/>
      </a:accent2>
      <a:accent3>
        <a:srgbClr val="3399FF"/>
      </a:accent3>
      <a:accent4>
        <a:srgbClr val="97CBFF"/>
      </a:accent4>
      <a:accent5>
        <a:srgbClr val="BEF38E"/>
      </a:accent5>
      <a:accent6>
        <a:srgbClr val="E69400"/>
      </a:accent6>
      <a:hlink>
        <a:srgbClr val="004696"/>
      </a:hlink>
      <a:folHlink>
        <a:srgbClr val="97CBFF"/>
      </a:folHlink>
    </a:clrScheme>
    <a:fontScheme name="Arial-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ttler-Toledo-Master">
      <a: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100000"/>
                <a:shade val="50000"/>
                <a:satMod val="130000"/>
              </a:schemeClr>
            </a:gs>
            <a:gs pos="80000">
              <a:schemeClr val="phClr">
                <a:tint val="100000"/>
                <a:shade val="90000"/>
                <a:alpha val="100000"/>
                <a:satMod val="130000"/>
              </a:schemeClr>
            </a:gs>
            <a:gs pos="100000">
              <a:schemeClr val="phClr">
                <a:tint val="100000"/>
                <a:shade val="100000"/>
                <a:alpha val="100000"/>
                <a:satMod val="13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>
              <a:satMod val="150000"/>
            </a:schemeClr>
          </a:solidFill>
          <a:prstDash val="solid"/>
        </a:ln>
        <a:ln w="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5" dist="25400" dir="5400000" algn="bl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6350">
          <a:solidFill>
            <a:schemeClr val="bg1">
              <a:lumMod val="6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6213" indent="-176213" algn="l">
          <a:spcBef>
            <a:spcPts val="400"/>
          </a:spcBef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600" dirty="0" smtClean="0"/>
        </a:defPPr>
      </a:lstStyle>
    </a:txDef>
  </a:objectDefaults>
  <a:extraClrSchemeLst/>
  <a:custClrLst>
    <a:custClr name="MT Green">
      <a:srgbClr val="56A410"/>
    </a:custClr>
    <a:custClr name="MT Blue">
      <a:srgbClr val="004696"/>
    </a:custClr>
    <a:custClr name="MT Cyan">
      <a:srgbClr val="3399FF"/>
    </a:custClr>
  </a:custClrLst>
  <a:extLst>
    <a:ext uri="{05A4C25C-085E-4340-85A3-A5531E510DB2}">
      <thm15:themeFamily xmlns:thm15="http://schemas.microsoft.com/office/thememl/2012/main" name="Presentation1" id="{31CBCB01-0CF0-4F99-B1A1-D255C2082704}" vid="{D39F59CA-1FF9-4DAC-887E-4EBD4234074D}"/>
    </a:ext>
  </a:extLst>
</a:theme>
</file>

<file path=ppt/theme/theme2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71f16f-cdf9-4332-a5b6-e4a306968cef">
      <Terms xmlns="http://schemas.microsoft.com/office/infopath/2007/PartnerControls"/>
    </lcf76f155ced4ddcb4097134ff3c332f>
    <TaxCatchAll xmlns="e842abd1-4f00-4400-a191-bab745fedcf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3FA22B4098D9CD44853ACF87C2864AA6" ma:contentTypeVersion="22" ma:contentTypeDescription="新建文档。" ma:contentTypeScope="" ma:versionID="eec5fc4ce64cb98fee8ee586c5d36c22">
  <xsd:schema xmlns:xsd="http://www.w3.org/2001/XMLSchema" xmlns:xs="http://www.w3.org/2001/XMLSchema" xmlns:p="http://schemas.microsoft.com/office/2006/metadata/properties" xmlns:ns2="e842abd1-4f00-4400-a191-bab745fedcfd" xmlns:ns3="b971f16f-cdf9-4332-a5b6-e4a306968cef" targetNamespace="http://schemas.microsoft.com/office/2006/metadata/properties" ma:root="true" ma:fieldsID="26104fc75b56f0fd1b77b43ef19cbf82" ns2:_="" ns3:_="">
    <xsd:import namespace="e842abd1-4f00-4400-a191-bab745fedcfd"/>
    <xsd:import namespace="b971f16f-cdf9-4332-a5b6-e4a306968ce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2abd1-4f00-4400-a191-bab745fedcfd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共享对象: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38c921a-64b5-46b0-82df-6365a78b031c}" ma:internalName="TaxCatchAll" ma:showField="CatchAllData" ma:web="e842abd1-4f00-4400-a191-bab745fed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1f16f-cdf9-4332-a5b6-e4a306968c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图像标记" ma:readOnly="false" ma:fieldId="{5cf76f15-5ced-4ddc-b409-7134ff3c332f}" ma:taxonomyMulti="true" ma:sspId="ae29fd97-47e2-4dd7-9344-6a601f8ae0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内容类型"/>
        <xsd:element ref="dc:title" minOccurs="0" maxOccurs="1" ma:index="3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E1F72C-9683-425D-A8D1-53571179C666}">
  <ds:schemaRefs>
    <ds:schemaRef ds:uri="31f64264-feeb-4cc0-8cdd-1351f7f56b20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b971f16f-cdf9-4332-a5b6-e4a306968cef"/>
    <ds:schemaRef ds:uri="e842abd1-4f00-4400-a191-bab745fedcfd"/>
  </ds:schemaRefs>
</ds:datastoreItem>
</file>

<file path=customXml/itemProps2.xml><?xml version="1.0" encoding="utf-8"?>
<ds:datastoreItem xmlns:ds="http://schemas.openxmlformats.org/officeDocument/2006/customXml" ds:itemID="{ED6215A6-A98E-4584-8FB5-A453AFB5FE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2abd1-4f00-4400-a191-bab745fedcfd"/>
    <ds:schemaRef ds:uri="b971f16f-cdf9-4332-a5b6-e4a306968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FB36-E859-4F88-BF97-F54A555958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44</Words>
  <Application>Microsoft Macintosh PowerPoint</Application>
  <PresentationFormat>宽屏</PresentationFormat>
  <Paragraphs>20</Paragraphs>
  <Slides>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Wingdings</vt:lpstr>
      <vt:lpstr>Blank Final 2023-03-23</vt:lpstr>
      <vt:lpstr>think-cell Slide</vt:lpstr>
      <vt:lpstr>Presentation Title</vt:lpstr>
      <vt:lpstr>Agenda</vt:lpstr>
      <vt:lpstr>PowerPoint 演示文稿</vt:lpstr>
    </vt:vector>
  </TitlesOfParts>
  <Manager/>
  <Company>Mettler Toledo International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PPT Template 2023</dc:title>
  <dc:creator>METTLER TOLEDO Group Communications</dc:creator>
  <cp:lastModifiedBy>Shi YuJie MTCT</cp:lastModifiedBy>
  <cp:revision>3</cp:revision>
  <dcterms:created xsi:type="dcterms:W3CDTF">2021-07-12T11:39:32Z</dcterms:created>
  <dcterms:modified xsi:type="dcterms:W3CDTF">2026-07-31T07:53:00Z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615ef3-aa90-4fa2-9d66-c4f70f9fc413_Enabled">
    <vt:lpwstr>true</vt:lpwstr>
  </property>
  <property fmtid="{D5CDD505-2E9C-101B-9397-08002B2CF9AE}" pid="3" name="MSIP_Label_af615ef3-aa90-4fa2-9d66-c4f70f9fc413_SetDate">
    <vt:lpwstr>2021-07-12T11:39:35Z</vt:lpwstr>
  </property>
  <property fmtid="{D5CDD505-2E9C-101B-9397-08002B2CF9AE}" pid="4" name="MSIP_Label_af615ef3-aa90-4fa2-9d66-c4f70f9fc413_Method">
    <vt:lpwstr>Standard</vt:lpwstr>
  </property>
  <property fmtid="{D5CDD505-2E9C-101B-9397-08002B2CF9AE}" pid="5" name="MSIP_Label_af615ef3-aa90-4fa2-9d66-c4f70f9fc413_Name">
    <vt:lpwstr>Confidential</vt:lpwstr>
  </property>
  <property fmtid="{D5CDD505-2E9C-101B-9397-08002B2CF9AE}" pid="6" name="MSIP_Label_af615ef3-aa90-4fa2-9d66-c4f70f9fc413_SiteId">
    <vt:lpwstr>fb4c0aee-6cd2-482f-a1a5-717e7c02496b</vt:lpwstr>
  </property>
  <property fmtid="{D5CDD505-2E9C-101B-9397-08002B2CF9AE}" pid="7" name="MSIP_Label_af615ef3-aa90-4fa2-9d66-c4f70f9fc413_ActionId">
    <vt:lpwstr>8d842dae-99ec-4fa6-9f85-0e9e295c8a06</vt:lpwstr>
  </property>
  <property fmtid="{D5CDD505-2E9C-101B-9397-08002B2CF9AE}" pid="8" name="MSIP_Label_af615ef3-aa90-4fa2-9d66-c4f70f9fc413_ContentBits">
    <vt:lpwstr>0</vt:lpwstr>
  </property>
  <property fmtid="{D5CDD505-2E9C-101B-9397-08002B2CF9AE}" pid="9" name="ContentTypeId">
    <vt:lpwstr>0x0101003FA22B4098D9CD44853ACF87C2864AA6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1" visible="true"/>
        <mso:separator idQ="doc:sep2" visible="true"/>
        <mso:control idQ="mso:FileProperties" visible="true"/>
        <mso:control idQ="mso:GridSettings" visible="true"/>
        <mso:control idQ="mso:HeaderFooterInsert" visible="true"/>
        <mso:separator idQ="doc:sep3" visible="true"/>
        <mso:control idQ="mso:SlideNewGallery" visible="true"/>
        <mso:control idQ="mso:SlideLayoutGallery" visible="true"/>
        <mso:separator idQ="doc:sep6" visible="true"/>
        <mso:control idQ="mso:OutlineDemote" visible="true"/>
        <mso:control idQ="mso:OutlinePromote" visible="true"/>
        <mso:separator idQ="doc:sep4" visible="true"/>
        <mso:separator idQ="doc:sep5" visible="true"/>
      </mso:documentControls>
    </mso:qat>
  </mso:ribbon>
</mso:customUI>
</file>