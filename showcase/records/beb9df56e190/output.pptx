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Layouts/gen_slideLayout7.xml" ContentType="application/vnd.openxmlformats-officedocument.presentationml.slideLayout+xml"/>
  <Override PartName="/ppt/slideMasters/gen_slideMaster1.xml" ContentType="application/vnd.openxmlformats-officedocument.presentationml.slideMaster+xml"/>
  <Override PartName="/ppt/slides/gen_slide10.xml" ContentType="application/vnd.openxmlformats-officedocument.presentationml.slide+xml"/>
  <Override PartName="/ppt/slides/gen_slide3.xml" ContentType="application/vnd.openxmlformats-officedocument.presentationml.slide+xml"/>
  <Override PartName="/ppt/slides/gen_slide4.xml" ContentType="application/vnd.openxmlformats-officedocument.presentationml.slide+xml"/>
  <Override PartName="/ppt/slides/gen_slide5.xml" ContentType="application/vnd.openxmlformats-officedocument.presentationml.slide+xml"/>
  <Override PartName="/ppt/slides/gen_slide6.xml" ContentType="application/vnd.openxmlformats-officedocument.presentationml.slide+xml"/>
  <Override PartName="/ppt/slides/gen_slide7.xml" ContentType="application/vnd.openxmlformats-officedocument.presentationml.slide+xml"/>
  <Override PartName="/ppt/slides/gen_slide8.xml" ContentType="application/vnd.openxmlformats-officedocument.presentationml.slide+xml"/>
  <Override PartName="/ppt/slides/gen_slide9.xml" ContentType="application/vnd.openxmlformats-officedocument.presentationml.slide+xml"/>
  <Override PartName="/ppt/theme/gen_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91" r:id="rId101"/>
  </p:sldMasterIdLst>
  <p:notesMasterIdLst>
    <p:notesMasterId r:id="rId8"/>
  </p:notesMasterIdLst>
  <p:handoutMasterIdLst>
    <p:handoutMasterId r:id="rId9"/>
  </p:handoutMasterIdLst>
  <p:sldIdLst>
    <p:sldId id="315" r:id="rId5"/>
    <p:sldId id="324" r:id="rId6"/>
    <p:sldId id="325" r:id="rId102"/>
    <p:sldId id="326" r:id="rId103"/>
    <p:sldId id="327" r:id="rId104"/>
    <p:sldId id="328" r:id="rId105"/>
    <p:sldId id="329" r:id="rId106"/>
    <p:sldId id="330" r:id="rId107"/>
    <p:sldId id="331" r:id="rId108"/>
    <p:sldId id="332" r:id="rId109"/>
  </p:sldIdLst>
  <p:sldSz cx="12192000" cy="6858000"/>
  <p:notesSz cx="6877050" cy="10002838"/>
  <p:custDataLst>
    <p:tags r:id="rId10"/>
  </p:custDataLst>
  <p:defaultTextStyle>
    <a:defPPr>
      <a:defRPr lang="en-US"/>
    </a:defPPr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935" userDrawn="1">
          <p15:clr>
            <a:srgbClr val="A4A3A4"/>
          </p15:clr>
        </p15:guide>
        <p15:guide id="3" orient="horz" pos="4020" userDrawn="1">
          <p15:clr>
            <a:srgbClr val="A4A3A4"/>
          </p15:clr>
        </p15:guide>
        <p15:guide id="4" orient="horz" pos="391" userDrawn="1">
          <p15:clr>
            <a:srgbClr val="A4A3A4"/>
          </p15:clr>
        </p15:guide>
        <p15:guide id="5" orient="horz" pos="504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325" userDrawn="1">
          <p15:clr>
            <a:srgbClr val="A4A3A4"/>
          </p15:clr>
        </p15:guide>
        <p15:guide id="8" pos="73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1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  <a:srgbClr val="9C9C9C"/>
    <a:srgbClr val="614173"/>
    <a:srgbClr val="CE7E34"/>
    <a:srgbClr val="006B6D"/>
    <a:srgbClr val="6AB023"/>
    <a:srgbClr val="3399FF"/>
    <a:srgbClr val="004696"/>
    <a:srgbClr val="E2C264"/>
    <a:srgbClr val="3CA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7E5F81B-B57D-4800-8E8F-8E96741CC982}" styleName="Mettler Toledo &gt; Green Table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512FF0-2B18-46AF-9A1B-3A70A708474B}" styleName="Mettler Toledo &gt; Green Tab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7439" autoAdjust="0"/>
  </p:normalViewPr>
  <p:slideViewPr>
    <p:cSldViewPr snapToGrid="0" snapToObjects="1" showGuides="1">
      <p:cViewPr varScale="1">
        <p:scale>
          <a:sx n="119" d="100"/>
          <a:sy n="119" d="100"/>
        </p:scale>
        <p:origin x="480" y="184"/>
      </p:cViewPr>
      <p:guideLst>
        <p:guide orient="horz" pos="2160"/>
        <p:guide orient="horz" pos="935"/>
        <p:guide orient="horz" pos="4020"/>
        <p:guide orient="horz" pos="391"/>
        <p:guide orient="horz" pos="504"/>
        <p:guide pos="3840"/>
        <p:guide pos="325"/>
        <p:guide pos="73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77" d="100"/>
          <a:sy n="77" d="100"/>
        </p:scale>
        <p:origin x="3126" y="96"/>
      </p:cViewPr>
      <p:guideLst>
        <p:guide orient="horz" pos="3151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Relationship Id="rId101" Type="http://schemas.openxmlformats.org/officeDocument/2006/relationships/slideMaster" Target="slideMasters/gen_slideMaster1.xml"/><Relationship Id="rId102" Type="http://schemas.openxmlformats.org/officeDocument/2006/relationships/slide" Target="slides/gen_slide3.xml"/><Relationship Id="rId103" Type="http://schemas.openxmlformats.org/officeDocument/2006/relationships/slide" Target="slides/gen_slide4.xml"/><Relationship Id="rId104" Type="http://schemas.openxmlformats.org/officeDocument/2006/relationships/slide" Target="slides/gen_slide5.xml"/><Relationship Id="rId105" Type="http://schemas.openxmlformats.org/officeDocument/2006/relationships/slide" Target="slides/gen_slide6.xml"/><Relationship Id="rId106" Type="http://schemas.openxmlformats.org/officeDocument/2006/relationships/slide" Target="slides/gen_slide7.xml"/><Relationship Id="rId107" Type="http://schemas.openxmlformats.org/officeDocument/2006/relationships/slide" Target="slides/gen_slide8.xml"/><Relationship Id="rId108" Type="http://schemas.openxmlformats.org/officeDocument/2006/relationships/slide" Target="slides/gen_slide9.xml"/><Relationship Id="rId109" Type="http://schemas.openxmlformats.org/officeDocument/2006/relationships/slide" Target="slides/gen_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574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0888"/>
            <a:ext cx="6664325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1" tIns="48225" rIns="96451" bIns="48225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25033" y="4751348"/>
            <a:ext cx="5018567" cy="4501277"/>
          </a:xfrm>
          <a:prstGeom prst="rect">
            <a:avLst/>
          </a:prstGeom>
        </p:spPr>
        <p:txBody>
          <a:bodyPr vert="horz" lIns="96451" tIns="48225" rIns="96451" bIns="48225" rtlCol="0">
            <a:normAutofit/>
          </a:bodyPr>
          <a:lstStyle/>
          <a:p>
            <a:pPr lvl="0"/>
            <a:r>
              <a:rPr lang="en-US" dirty="0" err="1"/>
              <a:t>Textmasterformate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3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06363" y="750888"/>
            <a:ext cx="6664325" cy="37496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5255180" y="9412732"/>
            <a:ext cx="692953" cy="500142"/>
          </a:xfrm>
          <a:prstGeom prst="rect">
            <a:avLst/>
          </a:prstGeom>
        </p:spPr>
        <p:txBody>
          <a:bodyPr/>
          <a:lstStyle/>
          <a:p>
            <a:fld id="{B37E420F-8DC5-4183-89F9-42805A72DA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77083"/>
      </p:ext>
    </p:extLst>
  </p:cSld>
  <p:clrMapOvr>
    <a:masterClrMapping/>
  </p:clrMapOvr>
</p:notes>
</file>

<file path=ppt/slideLayouts/_rels/gen_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gen_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4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4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gen_slideLayout7.xml><?xml version="1.0" encoding="utf-8"?>
<p:sldLayout xmlns:a="http://schemas.openxmlformats.org/drawingml/2006/main" xmlns:p="http://schemas.openxmlformats.org/presentationml/2006/main" type="blank" preserve="1">
  <p:cSld name="web_beb9df56e19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0" hasCustomPrompt="1"/>
          </p:nvPr>
        </p:nvSpPr>
        <p:spPr>
          <a:xfrm>
            <a:off x="3215680" y="0"/>
            <a:ext cx="8976320" cy="2636838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52936"/>
            <a:ext cx="8266827" cy="597686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3"/>
            <a:ext cx="8266828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0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246475" y="1"/>
            <a:ext cx="8945525" cy="2635199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52936"/>
            <a:ext cx="8256917" cy="597686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2"/>
            <a:ext cx="8256919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13" hasCustomPrompt="1"/>
          </p:nvPr>
        </p:nvSpPr>
        <p:spPr>
          <a:xfrm>
            <a:off x="32156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4" name="Bildplatzhalter 10"/>
          <p:cNvSpPr>
            <a:spLocks noGrp="1"/>
          </p:cNvSpPr>
          <p:nvPr>
            <p:ph type="pic" sz="quarter" idx="14" hasCustomPrompt="1"/>
          </p:nvPr>
        </p:nvSpPr>
        <p:spPr>
          <a:xfrm>
            <a:off x="54780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5" name="Bildplatzhalter 10"/>
          <p:cNvSpPr>
            <a:spLocks noGrp="1"/>
          </p:cNvSpPr>
          <p:nvPr>
            <p:ph type="pic" sz="quarter" idx="15" hasCustomPrompt="1"/>
          </p:nvPr>
        </p:nvSpPr>
        <p:spPr>
          <a:xfrm>
            <a:off x="77404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16" hasCustomPrompt="1"/>
          </p:nvPr>
        </p:nvSpPr>
        <p:spPr>
          <a:xfrm>
            <a:off x="100028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21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 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215680" y="0"/>
            <a:ext cx="5702720" cy="26369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244800" y="2642400"/>
            <a:ext cx="8947200" cy="4215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784299" y="0"/>
            <a:ext cx="3407700" cy="2636912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36800"/>
            <a:ext cx="8256917" cy="613822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3"/>
            <a:ext cx="8256919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4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2485F82-BAA6-4E12-A25C-E4A22D2EB0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4907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2485F82-BAA6-4E12-A25C-E4A22D2EB0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0" y="0"/>
            <a:ext cx="6096000" cy="623731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  <a:gs pos="70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de-DE" sz="1400">
              <a:solidFill>
                <a:srgbClr val="6BD2FF"/>
              </a:solidFill>
            </a:endParaRPr>
          </a:p>
        </p:txBody>
      </p:sp>
      <p:sp>
        <p:nvSpPr>
          <p:cNvPr id="3" name="Body1"/>
          <p:cNvSpPr>
            <a:spLocks noGrp="1"/>
          </p:cNvSpPr>
          <p:nvPr>
            <p:ph type="body" idx="1" hasCustomPrompt="1"/>
          </p:nvPr>
        </p:nvSpPr>
        <p:spPr>
          <a:xfrm>
            <a:off x="6294285" y="3212977"/>
            <a:ext cx="5376929" cy="3168773"/>
          </a:xfrm>
        </p:spPr>
        <p:txBody>
          <a:bodyPr anchor="t"/>
          <a:lstStyle>
            <a:lvl1pPr marL="216000" indent="-21600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chapter topic…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520787" y="1484314"/>
            <a:ext cx="5376335" cy="1584637"/>
          </a:xfrm>
        </p:spPr>
        <p:txBody>
          <a:bodyPr vert="horz"/>
          <a:lstStyle>
            <a:lvl1pPr algn="r">
              <a:defRPr baseline="0"/>
            </a:lvl1pPr>
          </a:lstStyle>
          <a:p>
            <a:r>
              <a:rPr lang="en-US" noProof="0" dirty="0"/>
              <a:t>Click to add chapter name…</a:t>
            </a:r>
          </a:p>
        </p:txBody>
      </p:sp>
      <p:cxnSp>
        <p:nvCxnSpPr>
          <p:cNvPr id="10" name="Gerade Verbindung 9"/>
          <p:cNvCxnSpPr/>
          <p:nvPr userDrawn="1"/>
        </p:nvCxnSpPr>
        <p:spPr bwMode="gray">
          <a:xfrm>
            <a:off x="6288001" y="2898001"/>
            <a:ext cx="5376924" cy="8175"/>
          </a:xfrm>
          <a:prstGeom prst="line">
            <a:avLst/>
          </a:prstGeom>
          <a:ln w="127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Bildplatzhalter 7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1"/>
            <a:ext cx="6096000" cy="2924175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DC6663A-68A6-47CA-99E9-8D50C35590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8905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DC6663A-68A6-47CA-99E9-8D50C3559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454" y="1016000"/>
            <a:ext cx="11155275" cy="53657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14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1031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6" y="1016000"/>
            <a:ext cx="11154942" cy="324768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786" y="1485900"/>
            <a:ext cx="11155276" cy="4895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08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Full Page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B79284B-854B-4156-B3FE-C8B8A7DB29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9143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B79284B-854B-4156-B3FE-C8B8A7DB29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4945" cy="324769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 hasCustomPrompt="1"/>
          </p:nvPr>
        </p:nvSpPr>
        <p:spPr>
          <a:xfrm>
            <a:off x="520453" y="1485900"/>
            <a:ext cx="11155609" cy="4463380"/>
          </a:xfrm>
          <a:noFill/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dirty="0"/>
              <a:t>Click icon to insert chart or table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1" hasCustomPrompt="1"/>
          </p:nvPr>
        </p:nvSpPr>
        <p:spPr>
          <a:xfrm>
            <a:off x="520453" y="6093296"/>
            <a:ext cx="11155609" cy="288032"/>
          </a:xfr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Add chart/table description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372CAD24-CA91-46F0-8D23-AFBE2721F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35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ag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214A70-ADFD-4F3F-ADBC-92B21BDFD4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17577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214A70-ADFD-4F3F-ADBC-92B21BDFD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 baseline="0"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6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51CC508A-9A45-4BFA-AF3D-498236D06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404BC77-937E-4BA7-9E0C-26F3003111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7396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404BC77-937E-4BA7-9E0C-26F3003111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 baseline="0"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0A3C469-8B84-4047-B855-082CEF591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0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23" y="188641"/>
            <a:ext cx="9217024" cy="573984"/>
          </a:xfrm>
        </p:spPr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0"/>
            <a:ext cx="12192000" cy="6054049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BC268B01-4582-4DB0-B334-C5A959C68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52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23" y="188641"/>
            <a:ext cx="9217024" cy="573984"/>
          </a:xfrm>
        </p:spPr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1"/>
            <a:ext cx="12192000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9" name="Body1">
            <a:extLst>
              <a:ext uri="{FF2B5EF4-FFF2-40B4-BE49-F238E27FC236}">
                <a16:creationId xmlns:a16="http://schemas.microsoft.com/office/drawing/2014/main" id="{D7C55B57-542A-4150-B3B6-251BFF73B5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0123" y="3434455"/>
            <a:ext cx="11160001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Body1">
            <a:extLst>
              <a:ext uri="{FF2B5EF4-FFF2-40B4-BE49-F238E27FC236}">
                <a16:creationId xmlns:a16="http://schemas.microsoft.com/office/drawing/2014/main" id="{6EABA4CD-7759-4FA6-B358-524E10C8834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0123" y="3987800"/>
            <a:ext cx="11160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BC268B01-4582-4DB0-B334-C5A959C68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483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1"/>
            <a:ext cx="12192000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1" name="Body1">
            <a:extLst>
              <a:ext uri="{FF2B5EF4-FFF2-40B4-BE49-F238E27FC236}">
                <a16:creationId xmlns:a16="http://schemas.microsoft.com/office/drawing/2014/main" id="{76DA7266-7942-40B1-B56C-4D888FA56C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89" y="3434455"/>
            <a:ext cx="3449601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Body2">
            <a:extLst>
              <a:ext uri="{FF2B5EF4-FFF2-40B4-BE49-F238E27FC236}">
                <a16:creationId xmlns:a16="http://schemas.microsoft.com/office/drawing/2014/main" id="{AB45FB46-F8C4-44E9-B5F7-7F29B25E688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367808" y="3434455"/>
            <a:ext cx="3456385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3">
            <a:extLst>
              <a:ext uri="{FF2B5EF4-FFF2-40B4-BE49-F238E27FC236}">
                <a16:creationId xmlns:a16="http://schemas.microsoft.com/office/drawing/2014/main" id="{32379907-2B9C-42A1-942C-94DF947884BD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8214498" y="3434455"/>
            <a:ext cx="3456716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85CAE92-23EC-4A40-8E9A-0DF9991DFE0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47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Images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3220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630348-FB6D-4395-80D5-C42E9359A8F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2DE64520-45FF-42BE-A6A2-7E10741064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3063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1758E02F-CB0E-4C81-8989-D0B15562378B}"/>
              </a:ext>
            </a:extLst>
          </p:cNvPr>
          <p:cNvSpPr>
            <a:spLocks noGrp="1"/>
          </p:cNvSpPr>
          <p:nvPr>
            <p:ph type="pic" sz="quarter" idx="102" hasCustomPrompt="1"/>
          </p:nvPr>
        </p:nvSpPr>
        <p:spPr>
          <a:xfrm>
            <a:off x="3066531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EC62C3CB-D2B5-4ED4-86FF-48CCD79279E7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9199596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6" name="Body1">
            <a:extLst>
              <a:ext uri="{FF2B5EF4-FFF2-40B4-BE49-F238E27FC236}">
                <a16:creationId xmlns:a16="http://schemas.microsoft.com/office/drawing/2014/main" id="{AD66C3E5-01C2-4242-B613-116668B4E9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75" y="3434455"/>
            <a:ext cx="2477714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Body1">
            <a:extLst>
              <a:ext uri="{FF2B5EF4-FFF2-40B4-BE49-F238E27FC236}">
                <a16:creationId xmlns:a16="http://schemas.microsoft.com/office/drawing/2014/main" id="{F4B2B228-D14D-4BD3-AF48-25FDFA150D9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3374" y="3987800"/>
            <a:ext cx="2477714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Body1">
            <a:extLst>
              <a:ext uri="{FF2B5EF4-FFF2-40B4-BE49-F238E27FC236}">
                <a16:creationId xmlns:a16="http://schemas.microsoft.com/office/drawing/2014/main" id="{26205AD7-763E-4A2C-B99F-83EC65E12B1C}"/>
              </a:ext>
            </a:extLst>
          </p:cNvPr>
          <p:cNvSpPr>
            <a:spLocks noGrp="1"/>
          </p:cNvSpPr>
          <p:nvPr>
            <p:ph idx="104" hasCustomPrompt="1"/>
          </p:nvPr>
        </p:nvSpPr>
        <p:spPr>
          <a:xfrm>
            <a:off x="3069911" y="3434455"/>
            <a:ext cx="2988000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9" name="Body1">
            <a:extLst>
              <a:ext uri="{FF2B5EF4-FFF2-40B4-BE49-F238E27FC236}">
                <a16:creationId xmlns:a16="http://schemas.microsoft.com/office/drawing/2014/main" id="{03313F0F-AA28-42D7-BE93-95AF64A60F94}"/>
              </a:ext>
            </a:extLst>
          </p:cNvPr>
          <p:cNvSpPr>
            <a:spLocks noGrp="1"/>
          </p:cNvSpPr>
          <p:nvPr>
            <p:ph idx="105"/>
          </p:nvPr>
        </p:nvSpPr>
        <p:spPr>
          <a:xfrm>
            <a:off x="3069910" y="3987800"/>
            <a:ext cx="2988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Body1">
            <a:extLst>
              <a:ext uri="{FF2B5EF4-FFF2-40B4-BE49-F238E27FC236}">
                <a16:creationId xmlns:a16="http://schemas.microsoft.com/office/drawing/2014/main" id="{FDA29E5A-9148-4B97-9132-F88B6CCC2F1C}"/>
              </a:ext>
            </a:extLst>
          </p:cNvPr>
          <p:cNvSpPr>
            <a:spLocks noGrp="1"/>
          </p:cNvSpPr>
          <p:nvPr>
            <p:ph idx="106" hasCustomPrompt="1"/>
          </p:nvPr>
        </p:nvSpPr>
        <p:spPr>
          <a:xfrm>
            <a:off x="6137656" y="3434455"/>
            <a:ext cx="2988000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1" name="Body1">
            <a:extLst>
              <a:ext uri="{FF2B5EF4-FFF2-40B4-BE49-F238E27FC236}">
                <a16:creationId xmlns:a16="http://schemas.microsoft.com/office/drawing/2014/main" id="{94FF3C29-4B46-4EB9-8EC6-71701522E8FE}"/>
              </a:ext>
            </a:extLst>
          </p:cNvPr>
          <p:cNvSpPr>
            <a:spLocks noGrp="1"/>
          </p:cNvSpPr>
          <p:nvPr>
            <p:ph idx="107"/>
          </p:nvPr>
        </p:nvSpPr>
        <p:spPr>
          <a:xfrm>
            <a:off x="6137655" y="3987800"/>
            <a:ext cx="2988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Body1">
            <a:extLst>
              <a:ext uri="{FF2B5EF4-FFF2-40B4-BE49-F238E27FC236}">
                <a16:creationId xmlns:a16="http://schemas.microsoft.com/office/drawing/2014/main" id="{B9B4420F-E5C1-43B2-9981-12AF867CB239}"/>
              </a:ext>
            </a:extLst>
          </p:cNvPr>
          <p:cNvSpPr>
            <a:spLocks noGrp="1"/>
          </p:cNvSpPr>
          <p:nvPr>
            <p:ph idx="108" hasCustomPrompt="1"/>
          </p:nvPr>
        </p:nvSpPr>
        <p:spPr>
          <a:xfrm>
            <a:off x="9199597" y="3434455"/>
            <a:ext cx="2477714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3" name="Body1">
            <a:extLst>
              <a:ext uri="{FF2B5EF4-FFF2-40B4-BE49-F238E27FC236}">
                <a16:creationId xmlns:a16="http://schemas.microsoft.com/office/drawing/2014/main" id="{E9B0CB9E-008C-438F-B7BD-4C4800FA77B4}"/>
              </a:ext>
            </a:extLst>
          </p:cNvPr>
          <p:cNvSpPr>
            <a:spLocks noGrp="1"/>
          </p:cNvSpPr>
          <p:nvPr>
            <p:ph idx="109"/>
          </p:nvPr>
        </p:nvSpPr>
        <p:spPr>
          <a:xfrm>
            <a:off x="9199596" y="3987800"/>
            <a:ext cx="2477714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9368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Header, 2 Images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1031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6" y="1016000"/>
            <a:ext cx="11154942" cy="324768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630348-FB6D-4395-80D5-C42E9359A8F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89756"/>
            <a:ext cx="6031282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0" name="Body1">
            <a:extLst>
              <a:ext uri="{FF2B5EF4-FFF2-40B4-BE49-F238E27FC236}">
                <a16:creationId xmlns:a16="http://schemas.microsoft.com/office/drawing/2014/main" id="{46F9472F-1090-49E4-B546-78497BAFE9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89" y="4253345"/>
            <a:ext cx="3449601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Body2">
            <a:extLst>
              <a:ext uri="{FF2B5EF4-FFF2-40B4-BE49-F238E27FC236}">
                <a16:creationId xmlns:a16="http://schemas.microsoft.com/office/drawing/2014/main" id="{423F6CB4-7821-4C15-9EF6-46A6A838204F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367808" y="4253345"/>
            <a:ext cx="3456385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Body3">
            <a:extLst>
              <a:ext uri="{FF2B5EF4-FFF2-40B4-BE49-F238E27FC236}">
                <a16:creationId xmlns:a16="http://schemas.microsoft.com/office/drawing/2014/main" id="{79ABB031-FBFA-4A66-A6D1-0AFE3F446C6F}"/>
              </a:ext>
            </a:extLst>
          </p:cNvPr>
          <p:cNvSpPr>
            <a:spLocks noGrp="1"/>
          </p:cNvSpPr>
          <p:nvPr>
            <p:ph sz="quarter" idx="101"/>
          </p:nvPr>
        </p:nvSpPr>
        <p:spPr>
          <a:xfrm>
            <a:off x="8214498" y="4253345"/>
            <a:ext cx="3456716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2DE64520-45FF-42BE-A6A2-7E10741064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0718" y="1489756"/>
            <a:ext cx="6031282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Horizontal Large 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9508AB7-262F-481F-9A76-4941E0BBC7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49921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9508AB7-262F-481F-9A76-4941E0BBC7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7" y="188641"/>
            <a:ext cx="9219869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7" y="1016000"/>
            <a:ext cx="11155276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787" y="1484784"/>
            <a:ext cx="11155276" cy="23042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3" hasCustomPrompt="1"/>
          </p:nvPr>
        </p:nvSpPr>
        <p:spPr>
          <a:xfrm>
            <a:off x="520787" y="3932238"/>
            <a:ext cx="11155276" cy="2449512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dirty="0"/>
              <a:t>Select icon below to add table or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0217932-A186-4142-9563-9CE9DFC02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7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C07C501-F330-4259-B385-BD329F280D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433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C07C501-F330-4259-B385-BD329F280D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60918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88040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6288022" y="1485900"/>
            <a:ext cx="5388041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1947A15-927D-4B6B-AF4C-80DCBE0CE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, Right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7D15A03-5F14-4E07-A837-5AEE9BC06B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9573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7D15A03-5F14-4E07-A837-5AEE9BC06B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60585" cy="324768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87708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4" hasCustomPrompt="1"/>
          </p:nvPr>
        </p:nvSpPr>
        <p:spPr>
          <a:xfrm>
            <a:off x="6288020" y="1485900"/>
            <a:ext cx="5388043" cy="4895850"/>
          </a:xfrm>
          <a:noFill/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EF6269C-FFCE-48D9-A7B6-4C22ED1FB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61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,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A75627-E942-415D-832D-9B31635DEE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44461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A75627-E942-415D-832D-9B31635DEE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7308743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1" hasCustomPrompt="1"/>
          </p:nvPr>
        </p:nvSpPr>
        <p:spPr>
          <a:xfrm>
            <a:off x="8214498" y="1485900"/>
            <a:ext cx="3456717" cy="2303140"/>
          </a:xfrm>
          <a:noFill/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24" name="Picture Placeholder 223"/>
          <p:cNvSpPr>
            <a:spLocks noGrp="1"/>
          </p:cNvSpPr>
          <p:nvPr>
            <p:ph type="pic" sz="quarter" idx="102" hasCustomPrompt="1"/>
          </p:nvPr>
        </p:nvSpPr>
        <p:spPr>
          <a:xfrm>
            <a:off x="8214498" y="4077072"/>
            <a:ext cx="3456716" cy="2304678"/>
          </a:xfrm>
          <a:noFill/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F6FFA89-DB55-46CD-A8AD-85C2C3BCE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894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E566D51-EF16-4FDE-9D9B-B9A26B555B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15337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E566D51-EF16-4FDE-9D9B-B9A26B555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6400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77824" cy="230314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6288020" y="1485900"/>
            <a:ext cx="5388043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520454" y="4077072"/>
            <a:ext cx="5388039" cy="230467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6F9DAF8E-D9C0-4670-89C5-0F666AC6AF58}"/>
              </a:ext>
            </a:extLst>
          </p:cNvPr>
          <p:cNvSpPr>
            <a:spLocks noGrp="1"/>
          </p:cNvSpPr>
          <p:nvPr>
            <p:ph type="ftr" sz="quarter" idx="101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21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2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F10A8AE-91BB-4651-8DAB-B2E84EFFC4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1290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F10A8AE-91BB-4651-8DAB-B2E84EFFC4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3462211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4374281" y="1485900"/>
            <a:ext cx="3456192" cy="4893469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8222089" y="1485900"/>
            <a:ext cx="3456717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62F65D9C-B27D-4338-9C82-DFE5D2642128}"/>
              </a:ext>
            </a:extLst>
          </p:cNvPr>
          <p:cNvSpPr>
            <a:spLocks noGrp="1"/>
          </p:cNvSpPr>
          <p:nvPr>
            <p:ph type="ftr" sz="quarter" idx="105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9828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CC40098-CB24-45C9-A192-10D790C9B8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97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CC40098-CB24-45C9-A192-10D790C9B8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5275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3140969"/>
            <a:ext cx="3454982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4368137" y="3140969"/>
            <a:ext cx="3456385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8222418" y="3140969"/>
            <a:ext cx="3456716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6" hasCustomPrompt="1"/>
          </p:nvPr>
        </p:nvSpPr>
        <p:spPr>
          <a:xfrm>
            <a:off x="520454" y="1485900"/>
            <a:ext cx="3462107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7" hasCustomPrompt="1"/>
          </p:nvPr>
        </p:nvSpPr>
        <p:spPr>
          <a:xfrm>
            <a:off x="4367808" y="1485900"/>
            <a:ext cx="3460275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08" hasCustomPrompt="1"/>
          </p:nvPr>
        </p:nvSpPr>
        <p:spPr>
          <a:xfrm>
            <a:off x="8221391" y="1485900"/>
            <a:ext cx="3457415" cy="142869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76929011-784F-421C-B8E6-D5215A51387A}"/>
              </a:ext>
            </a:extLst>
          </p:cNvPr>
          <p:cNvSpPr>
            <a:spLocks noGrp="1"/>
          </p:cNvSpPr>
          <p:nvPr>
            <p:ph type="ftr" sz="quarter" idx="109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63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F3D6664-F77D-4167-9BAD-79386C7B60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9295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F3D6664-F77D-4167-9BAD-79386C7B60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 hasCustomPrompt="1"/>
          </p:nvPr>
        </p:nvSpPr>
        <p:spPr>
          <a:xfrm>
            <a:off x="520454" y="1484784"/>
            <a:ext cx="2500578" cy="489654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 hasCustomPrompt="1"/>
          </p:nvPr>
        </p:nvSpPr>
        <p:spPr>
          <a:xfrm>
            <a:off x="3410568" y="1484784"/>
            <a:ext cx="2496277" cy="489654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 hasCustomPrompt="1"/>
          </p:nvPr>
        </p:nvSpPr>
        <p:spPr>
          <a:xfrm>
            <a:off x="6296381" y="1485900"/>
            <a:ext cx="2496277" cy="4895428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Body4"/>
          <p:cNvSpPr>
            <a:spLocks noGrp="1"/>
          </p:cNvSpPr>
          <p:nvPr>
            <p:ph sz="quarter" idx="4" hasCustomPrompt="1"/>
          </p:nvPr>
        </p:nvSpPr>
        <p:spPr>
          <a:xfrm>
            <a:off x="9182194" y="1485900"/>
            <a:ext cx="2496611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0248A160-E381-45FF-9F6B-8F6A195C2B54}"/>
              </a:ext>
            </a:extLst>
          </p:cNvPr>
          <p:cNvSpPr>
            <a:spLocks noGrp="1"/>
          </p:cNvSpPr>
          <p:nvPr>
            <p:ph type="ftr" sz="quarter" idx="105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1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8A2EEB13-AA5B-4F03-8289-D66CA01CFB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7513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8A2EEB13-AA5B-4F03-8289-D66CA01CFB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3140968"/>
            <a:ext cx="2496277" cy="324078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3411521" y="3140968"/>
            <a:ext cx="2496277" cy="324036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6302588" y="3147550"/>
            <a:ext cx="2484819" cy="3234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Body4"/>
          <p:cNvSpPr>
            <a:spLocks noGrp="1"/>
          </p:cNvSpPr>
          <p:nvPr>
            <p:ph sz="quarter" idx="4"/>
          </p:nvPr>
        </p:nvSpPr>
        <p:spPr>
          <a:xfrm>
            <a:off x="9182196" y="3140968"/>
            <a:ext cx="2496609" cy="324036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6" hasCustomPrompt="1"/>
          </p:nvPr>
        </p:nvSpPr>
        <p:spPr>
          <a:xfrm>
            <a:off x="520454" y="1484784"/>
            <a:ext cx="2496608" cy="1440160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7" hasCustomPrompt="1"/>
          </p:nvPr>
        </p:nvSpPr>
        <p:spPr>
          <a:xfrm>
            <a:off x="3412136" y="1484784"/>
            <a:ext cx="2483632" cy="1437010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08" hasCustomPrompt="1"/>
          </p:nvPr>
        </p:nvSpPr>
        <p:spPr>
          <a:xfrm>
            <a:off x="6290842" y="1485900"/>
            <a:ext cx="2496277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109" hasCustomPrompt="1"/>
          </p:nvPr>
        </p:nvSpPr>
        <p:spPr>
          <a:xfrm>
            <a:off x="9182194" y="1485900"/>
            <a:ext cx="2496611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F4E9A129-C01C-49EE-9DEC-99F6C1E3F620}"/>
              </a:ext>
            </a:extLst>
          </p:cNvPr>
          <p:cNvSpPr>
            <a:spLocks noGrp="1"/>
          </p:cNvSpPr>
          <p:nvPr>
            <p:ph type="ftr" sz="quarter" idx="110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965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2173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8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19488" y="190073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10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7" y="1016000"/>
            <a:ext cx="11137900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8" name="Body1"/>
          <p:cNvSpPr>
            <a:spLocks noGrp="1"/>
          </p:cNvSpPr>
          <p:nvPr>
            <p:ph sz="quarter" idx="2" hasCustomPrompt="1"/>
          </p:nvPr>
        </p:nvSpPr>
        <p:spPr>
          <a:xfrm>
            <a:off x="520787" y="2060576"/>
            <a:ext cx="5400000" cy="172846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 baseline="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4" name="Body2"/>
          <p:cNvSpPr>
            <a:spLocks noGrp="1"/>
          </p:cNvSpPr>
          <p:nvPr>
            <p:ph sz="quarter" idx="4" hasCustomPrompt="1"/>
          </p:nvPr>
        </p:nvSpPr>
        <p:spPr>
          <a:xfrm>
            <a:off x="6278495" y="2060576"/>
            <a:ext cx="5400000" cy="1728192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 baseline="0">
                <a:solidFill>
                  <a:schemeClr val="tx1"/>
                </a:solidFill>
              </a:defRPr>
            </a:lvl1pPr>
            <a:lvl2pPr>
              <a:defRPr sz="1600" baseline="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7" name="Body3"/>
          <p:cNvSpPr>
            <a:spLocks noGrp="1"/>
          </p:cNvSpPr>
          <p:nvPr>
            <p:ph sz="quarter" idx="6" hasCustomPrompt="1"/>
          </p:nvPr>
        </p:nvSpPr>
        <p:spPr>
          <a:xfrm>
            <a:off x="520787" y="4653136"/>
            <a:ext cx="5400000" cy="172861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8" name="Body4"/>
          <p:cNvSpPr>
            <a:spLocks noGrp="1"/>
          </p:cNvSpPr>
          <p:nvPr>
            <p:ph sz="quarter" idx="8" hasCustomPrompt="1"/>
          </p:nvPr>
        </p:nvSpPr>
        <p:spPr>
          <a:xfrm>
            <a:off x="6278495" y="4653136"/>
            <a:ext cx="5400000" cy="172861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5" name="TitelBalken2"/>
          <p:cNvSpPr>
            <a:spLocks noGrp="1"/>
          </p:cNvSpPr>
          <p:nvPr>
            <p:ph type="body" sz="quarter" idx="3" hasCustomPrompt="1"/>
          </p:nvPr>
        </p:nvSpPr>
        <p:spPr>
          <a:xfrm>
            <a:off x="6278495" y="1484784"/>
            <a:ext cx="5400000" cy="576000"/>
          </a:xfrm>
          <a:solidFill>
            <a:schemeClr val="bg2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itelBalken3"/>
          <p:cNvSpPr>
            <a:spLocks noGrp="1"/>
          </p:cNvSpPr>
          <p:nvPr>
            <p:ph type="body" idx="5" hasCustomPrompt="1"/>
          </p:nvPr>
        </p:nvSpPr>
        <p:spPr>
          <a:xfrm>
            <a:off x="520787" y="4077072"/>
            <a:ext cx="5400000" cy="576064"/>
          </a:xfrm>
          <a:solidFill>
            <a:schemeClr val="tx1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itelBalken4"/>
          <p:cNvSpPr>
            <a:spLocks noGrp="1"/>
          </p:cNvSpPr>
          <p:nvPr>
            <p:ph type="body" sz="quarter" idx="7" hasCustomPrompt="1"/>
          </p:nvPr>
        </p:nvSpPr>
        <p:spPr>
          <a:xfrm>
            <a:off x="6278495" y="4077072"/>
            <a:ext cx="5400000" cy="576064"/>
          </a:xfrm>
          <a:solidFill>
            <a:schemeClr val="accent6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itelBalken1"/>
          <p:cNvSpPr>
            <a:spLocks noGrp="1"/>
          </p:cNvSpPr>
          <p:nvPr>
            <p:ph type="body" idx="1" hasCustomPrompt="1"/>
          </p:nvPr>
        </p:nvSpPr>
        <p:spPr>
          <a:xfrm>
            <a:off x="520787" y="1484784"/>
            <a:ext cx="5400000" cy="576000"/>
          </a:xfrm>
          <a:solidFill>
            <a:schemeClr val="accent1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102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9252C0B9-8FAF-4FE6-B5F3-CE5B059C6BC3}"/>
              </a:ext>
            </a:extLst>
          </p:cNvPr>
          <p:cNvSpPr>
            <a:spLocks noGrp="1"/>
          </p:cNvSpPr>
          <p:nvPr>
            <p:ph type="ftr" sz="quarter" idx="10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25" userDrawn="1">
          <p15:clr>
            <a:srgbClr val="FBAE40"/>
          </p15:clr>
        </p15:guide>
        <p15:guide id="4" pos="735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527051" y="404581"/>
            <a:ext cx="11137900" cy="597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noProof="0" dirty="0">
                <a:solidFill>
                  <a:schemeClr val="accent4"/>
                </a:solidFill>
              </a:rPr>
              <a:t>End master</a:t>
            </a:r>
            <a:endParaRPr lang="en-US" sz="7200" noProof="0" dirty="0">
              <a:solidFill>
                <a:schemeClr val="tx1"/>
              </a:solidFill>
            </a:endParaRPr>
          </a:p>
          <a:p>
            <a:pPr algn="ctr"/>
            <a:r>
              <a:rPr lang="en-US" sz="7200" noProof="0" dirty="0">
                <a:solidFill>
                  <a:schemeClr val="tx1"/>
                </a:solidFill>
              </a:rPr>
              <a:t>Delete all layouts</a:t>
            </a:r>
            <a:r>
              <a:rPr lang="en-US" sz="7200" baseline="0" noProof="0" dirty="0">
                <a:solidFill>
                  <a:schemeClr val="tx1"/>
                </a:solidFill>
              </a:rPr>
              <a:t> after this layout!</a:t>
            </a:r>
            <a:endParaRPr lang="en-US" sz="72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798033"/>
      </p:ext>
    </p:extLst>
  </p:cSld>
  <p:clrMapOvr>
    <a:masterClrMapping/>
  </p:clrMapOvr>
</p:sldLayout>
</file>

<file path=ppt/slideMasters/_rels/gen_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gen_slideLayout7.xml"/><Relationship Id="rId12" Type="http://schemas.openxmlformats.org/officeDocument/2006/relationships/theme" Target="../theme/gen_theme1.xml"/></Relationships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1.emf"/></Relationships>
</file>

<file path=ppt/slideMasters/gen_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eb_beb9df56e19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552908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395" imgH="394" progId="TCLayout.ActiveDocument.1">
                  <p:embed/>
                </p:oleObj>
              </mc:Choice>
              <mc:Fallback>
                <p:oleObj name="think-cell Slide" r:id="rId29" imgW="395" imgH="39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2400" b="0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 52"/>
          <p:cNvSpPr>
            <a:spLocks noChangeArrowheads="1"/>
          </p:cNvSpPr>
          <p:nvPr/>
        </p:nvSpPr>
        <p:spPr bwMode="gray">
          <a:xfrm>
            <a:off x="0" y="1"/>
            <a:ext cx="12192000" cy="76491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bg2"/>
              </a:gs>
            </a:gsLst>
            <a:lin ang="0" scaled="1"/>
          </a:gra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 lang="en-US" sz="14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20454" y="188641"/>
            <a:ext cx="9217024" cy="57398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/>
          <a:p>
            <a:r>
              <a:rPr lang="en-US" dirty="0"/>
              <a:t>Click to add topic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20123" y="1485900"/>
            <a:ext cx="11160000" cy="4895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dirty="0"/>
              <a:t>Level 8</a:t>
            </a:r>
          </a:p>
          <a:p>
            <a:pPr lvl="8"/>
            <a:r>
              <a:rPr lang="en-US" dirty="0"/>
              <a:t>Level 9</a:t>
            </a:r>
          </a:p>
        </p:txBody>
      </p:sp>
      <p:cxnSp>
        <p:nvCxnSpPr>
          <p:cNvPr id="8" name="Gerade Verbindung 7"/>
          <p:cNvCxnSpPr/>
          <p:nvPr/>
        </p:nvCxnSpPr>
        <p:spPr bwMode="gray">
          <a:xfrm flipV="1">
            <a:off x="11672364" y="466863"/>
            <a:ext cx="0" cy="2889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123" y="6645600"/>
            <a:ext cx="11160000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0328725" y="486214"/>
            <a:ext cx="1211262" cy="13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17F9C0D6-3904-4581-8748-E01E8F1D5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4000" y="327719"/>
            <a:ext cx="528000" cy="432000"/>
          </a:xfrm>
          <a:prstGeom prst="rect">
            <a:avLst/>
          </a:prstGeom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1" r:id="rId2"/>
    <p:sldLayoutId id="2147483682" r:id="rId3"/>
    <p:sldLayoutId id="2147483663" r:id="rId4"/>
    <p:sldLayoutId id="2147483679" r:id="rId5"/>
    <p:sldLayoutId id="2147483689" r:id="rId6"/>
    <p:sldLayoutId id="2147483684" r:id="rId7"/>
    <p:sldLayoutId id="2147483666" r:id="rId8"/>
    <p:sldLayoutId id="2147483680" r:id="rId9"/>
    <p:sldLayoutId id="2147483687" r:id="rId10"/>
    <p:sldLayoutId id="2147483685" r:id="rId11"/>
    <p:sldLayoutId id="2147483686" r:id="rId12"/>
    <p:sldLayoutId id="2147483690" r:id="rId13"/>
    <p:sldLayoutId id="2147483662" r:id="rId14"/>
    <p:sldLayoutId id="2147483673" r:id="rId15"/>
    <p:sldLayoutId id="2147483664" r:id="rId16"/>
    <p:sldLayoutId id="2147483675" r:id="rId17"/>
    <p:sldLayoutId id="2147483677" r:id="rId18"/>
    <p:sldLayoutId id="2147483678" r:id="rId19"/>
    <p:sldLayoutId id="2147483669" r:id="rId20"/>
    <p:sldLayoutId id="2147483683" r:id="rId21"/>
    <p:sldLayoutId id="2147483672" r:id="rId22"/>
    <p:sldLayoutId id="2147483674" r:id="rId23"/>
    <p:sldLayoutId id="2147483665" r:id="rId24"/>
    <p:sldLayoutId id="2147483676" r:id="rId25"/>
  </p:sldLayoutIdLst>
  <p:hf hdr="0" dt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buNone/>
        <a:defRPr sz="240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9388" indent="-179388" algn="l" defTabSz="914400" rtl="0" eaLnBrk="1" latinLnBrk="0" hangingPunct="1">
        <a:spcBef>
          <a:spcPts val="40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9388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4150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4625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5963" indent="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73150" indent="-174625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55713" indent="-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431925" indent="-17621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614488" indent="-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55" userDrawn="1">
          <p15:clr>
            <a:srgbClr val="F26B43"/>
          </p15:clr>
        </p15:guide>
      </p15:sldGuideLst>
    </p:ext>
  </p:extLst>
</p:sldMaster>
</file>

<file path=ppt/slides/_rels/gen_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  <Relationship Id="rId3" Type="http://schemas.openxmlformats.org/officeDocument/2006/relationships/image" Target="../media/gen_image_0300a764a6f41928.png"/>
</Relationships>
</file>

<file path=ppt/slides/_rels/gen_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</Relationships>
</file>

<file path=ppt/slides/_rels/gen_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</Relationships>
</file>

<file path=ppt/slides/_rels/gen_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</Relationships>
</file>

<file path=ppt/slides/_rels/gen_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  <Relationship Id="rId3" Type="http://schemas.openxmlformats.org/officeDocument/2006/relationships/image" Target="../media/gen_image_d93f8bd414da9871.png"/>
</Relationships>
</file>

<file path=ppt/slides/_rels/gen_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</Relationships>
</file>

<file path=ppt/slides/_rels/gen_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</Relationships>
</file>

<file path=ppt/slides/_rels/gen_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  <Relationship Id="rId3" Type="http://schemas.openxmlformats.org/officeDocument/2006/relationships/image" Target="../media/gen_image_a09926d7bed409bd.png"/>
</Relationships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Relationship Id="rId6" Type="http://schemas.openxmlformats.org/officeDocument/2006/relationships/image" Target="../media/company_cover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gen_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93370"/>
            <a:ext cx="607383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Enterprise Presentation Challenge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7017" y="1111568"/>
            <a:ext cx="10944960" cy="264033"/>
            <a:chOff x="517017" y="1111568"/>
            <a:chExt cx="109449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17017" y="1111568"/>
              <a:ext cx="10944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bottleneck is not formatting—it is the compound work of synthesis, judgment, story, and controlled production.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1571625"/>
            <a:ext cx="6223578" cy="4143375"/>
            <a:chOff x="523875" y="1571625"/>
            <a:chExt cx="6223578" cy="4143375"/>
          </a:xfrm>
        </p:grpSpPr>
        <p:sp>
          <p:nvSpPr>
            <p:cNvPr id="9" name="Rectangle 9"/>
            <p:cNvSpPr/>
            <p:nvPr/>
          </p:nvSpPr>
          <p:spPr>
            <a:xfrm>
              <a:off x="523875" y="1571625"/>
              <a:ext cx="51435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4949" y="1725454"/>
              <a:ext cx="248040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Fragmented evidence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092" y="2035492"/>
              <a:ext cx="5371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PDF • Word • PowerPoint • Excel • Markdown • text • images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647950"/>
              <a:ext cx="51435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97CB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3074" y="2801779"/>
              <a:ext cx="259242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Repeated manual work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4217" y="3111818"/>
              <a:ext cx="5309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 → synthesize → structure → design → format every page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00125" y="3724275"/>
              <a:ext cx="51435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11199" y="3878104"/>
              <a:ext cx="22730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 Naïve AI shortcuts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2342" y="4188142"/>
              <a:ext cx="5535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Generic copy or rigid template filling loses enterprise context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23875" y="4895850"/>
              <a:ext cx="5619750" cy="8191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4949" y="5049679"/>
              <a:ext cx="14414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Target state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6092" y="5359718"/>
              <a:ext cx="55200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Human judgment + AI creativity + deterministic file production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572250" y="1571625"/>
            <a:ext cx="4857750" cy="4191000"/>
            <a:chOff x="6572250" y="1571625"/>
            <a:chExt cx="4857750" cy="4191000"/>
          </a:xfrm>
        </p:grpSpPr>
        <p:sp>
          <p:nvSpPr>
            <p:cNvPr id="22" name="Rectangle 22"/>
            <p:cNvSpPr/>
            <p:nvPr/>
          </p:nvSpPr>
          <p:spPr>
            <a:xfrm>
              <a:off x="6572250" y="1571625"/>
              <a:ext cx="4857750" cy="4191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97CBFF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8500" y="1714500"/>
              <a:ext cx="3905250" cy="3905250"/>
            </a:xfrm>
            <a:prstGeom prst="rect">
              <a:avLst/>
            </a:prstGeom>
          </p:spPr>
        </p:pic>
      </p:grpSp>
      <p:sp>
        <p:nvSpPr>
          <p:cNvPr id="25" name="TextBox 25"/>
          <p:cNvSpPr txBox="1"/>
          <p:nvPr/>
        </p:nvSpPr>
        <p:spPr>
          <a:xfrm>
            <a:off x="10032026" y="6692741"/>
            <a:ext cx="1650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26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063AF269-2430-4934-98CC-17D77A74E8C0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3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93370"/>
            <a:ext cx="546067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Product Positioning and Core Value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5874" y="1087279"/>
            <a:ext cx="10330777" cy="308039"/>
            <a:chOff x="515874" y="1087279"/>
            <a:chExt cx="1033077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15874" y="1087279"/>
              <a:ext cx="1033077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Plan what the deck must say and why each page exists—then decide how every page should look.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2975" y="1809750"/>
            <a:ext cx="10363200" cy="1333500"/>
            <a:chOff x="942975" y="1809750"/>
            <a:chExt cx="10363200" cy="1333500"/>
          </a:xfrm>
        </p:grpSpPr>
        <p:sp>
          <p:nvSpPr>
            <p:cNvPr id="9" name="Line 9"/>
            <p:cNvSpPr/>
            <p:nvPr/>
          </p:nvSpPr>
          <p:spPr>
            <a:xfrm>
              <a:off x="1381125" y="2476500"/>
              <a:ext cx="9286875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42975" y="2038350"/>
              <a:ext cx="876300" cy="876300"/>
              <a:chOff x="942975" y="2038350"/>
              <a:chExt cx="876300" cy="87630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942975" y="2038350"/>
                <a:ext cx="876300" cy="87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03961" y="2283142"/>
                <a:ext cx="7543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Process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99439" y="2527935"/>
                <a:ext cx="7633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materials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752725" y="2038350"/>
              <a:ext cx="876300" cy="876300"/>
              <a:chOff x="2752725" y="2038350"/>
              <a:chExt cx="876300" cy="8763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2752725" y="2038350"/>
                <a:ext cx="876300" cy="87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995331" y="2283142"/>
                <a:ext cx="3910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Plan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805151" y="2527935"/>
                <a:ext cx="7714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narrative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457700" y="1809750"/>
              <a:ext cx="1762125" cy="1333500"/>
              <a:chOff x="4457700" y="1809750"/>
              <a:chExt cx="1762125" cy="1333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457700" y="1809750"/>
                <a:ext cx="1762125" cy="1333500"/>
              </a:xfrm>
              <a:prstGeom prst="rect">
                <a:avLst/>
              </a:prstGeom>
              <a:solidFill>
                <a:schemeClr val="accent5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82384" y="2020729"/>
                <a:ext cx="170323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WHY THIS PAGE?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77432" y="2368868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role • message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91107" y="2654618"/>
                <a:ext cx="14857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evidence • visual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848475" y="2038350"/>
              <a:ext cx="876300" cy="876300"/>
              <a:chOff x="6848475" y="2038350"/>
              <a:chExt cx="876300" cy="876300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6848475" y="2038350"/>
                <a:ext cx="876300" cy="87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986015" y="2283142"/>
                <a:ext cx="6012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Design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058406" y="2527935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pages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658225" y="2038350"/>
              <a:ext cx="876300" cy="876300"/>
              <a:chOff x="8658225" y="2038350"/>
              <a:chExt cx="876300" cy="8763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658225" y="2038350"/>
                <a:ext cx="876300" cy="87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848287" y="2283142"/>
                <a:ext cx="49617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Apply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868156" y="2527935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brand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315575" y="1981200"/>
              <a:ext cx="990600" cy="990600"/>
              <a:chOff x="10315575" y="1981200"/>
              <a:chExt cx="990600" cy="99060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10315575" y="1981200"/>
                <a:ext cx="990600" cy="990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429278" y="2283142"/>
                <a:ext cx="7631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Editable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617022" y="2527935"/>
                <a:ext cx="3877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PPTX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523875" y="4095750"/>
            <a:ext cx="11235055" cy="1428750"/>
            <a:chOff x="523875" y="4095750"/>
            <a:chExt cx="11235055" cy="1428750"/>
          </a:xfrm>
        </p:grpSpPr>
        <p:sp>
          <p:nvSpPr>
            <p:cNvPr id="36" name="Rectangle 36"/>
            <p:cNvSpPr/>
            <p:nvPr/>
          </p:nvSpPr>
          <p:spPr>
            <a:xfrm>
              <a:off x="523875" y="4095750"/>
              <a:ext cx="25717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0758" y="4217670"/>
              <a:ext cx="12072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FASTER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4949" y="4659154"/>
              <a:ext cx="28515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Synthesis at material scale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854" y="5033010"/>
              <a:ext cx="2828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Less repeated reading and assembly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286125" y="4095750"/>
              <a:ext cx="2571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493008" y="4217670"/>
              <a:ext cx="16732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COHERENT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97199" y="4659154"/>
              <a:ext cx="23303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Consistent story logic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99104" y="5033010"/>
              <a:ext cx="2957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One narrative contract across pages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48375" y="4095750"/>
              <a:ext cx="2571750" cy="1428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55258" y="4217670"/>
              <a:ext cx="18524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COMPLIANT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59449" y="4659154"/>
              <a:ext cx="19900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Brand rules built in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61354" y="5033010"/>
              <a:ext cx="25544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Template, type, header, footer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810625" y="4095750"/>
              <a:ext cx="2571750" cy="14287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17508" y="4217670"/>
              <a:ext cx="15119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EDITABLE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21699" y="4659154"/>
              <a:ext cx="273723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Native PowerPoint objects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23604" y="5033010"/>
              <a:ext cx="25292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Not flattened slide screenshots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0032026" y="6692741"/>
            <a:ext cx="1650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54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2BB1B400-8F1D-4427-A6D6-D29F2ABB1231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4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93370"/>
            <a:ext cx="39966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End-to-End User Journey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7398" y="1119664"/>
            <a:ext cx="11417529" cy="249364"/>
            <a:chOff x="517398" y="1119664"/>
            <a:chExt cx="11417529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17398" y="1119664"/>
              <a:ext cx="11417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reusable material snapshot anchors every step—from setup and plan confirmation to version comparison and editable download.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3875" y="1571625"/>
            <a:ext cx="11144250" cy="590550"/>
            <a:chOff x="523875" y="1571625"/>
            <a:chExt cx="11144250" cy="590550"/>
          </a:xfrm>
        </p:grpSpPr>
        <p:sp>
          <p:nvSpPr>
            <p:cNvPr id="9" name="Rectangle 9"/>
            <p:cNvSpPr/>
            <p:nvPr/>
          </p:nvSpPr>
          <p:spPr>
            <a:xfrm>
              <a:off x="523875" y="1571625"/>
              <a:ext cx="1114425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3999" y="1763554"/>
              <a:ext cx="30011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PERSISTENT TASK SNAPSHOT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17392" y="1787842"/>
              <a:ext cx="77162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Submitted evidence stays fixed even when the personal material library later changes.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1624" y="2952750"/>
            <a:ext cx="10671192" cy="2235803"/>
            <a:chOff x="801624" y="2952750"/>
            <a:chExt cx="10671192" cy="2235803"/>
          </a:xfrm>
        </p:grpSpPr>
        <p:sp>
          <p:nvSpPr>
            <p:cNvPr id="13" name="Line 13"/>
            <p:cNvSpPr/>
            <p:nvPr/>
          </p:nvSpPr>
          <p:spPr>
            <a:xfrm>
              <a:off x="1809750" y="3476625"/>
              <a:ext cx="8524875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Ellipse 14"/>
            <p:cNvSpPr/>
            <p:nvPr/>
          </p:nvSpPr>
          <p:spPr>
            <a:xfrm>
              <a:off x="1285875" y="2952750"/>
              <a:ext cx="1047750" cy="1047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04266" y="33032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000500" y="2952750"/>
              <a:ext cx="1047750" cy="1047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18891" y="33032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715125" y="2952750"/>
              <a:ext cx="1047750" cy="1047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33516" y="33032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9429750" y="2952750"/>
              <a:ext cx="1047750" cy="1047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8141" y="33032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1624" y="4354354"/>
              <a:ext cx="28359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BUILD A REUSABLE LIBRARY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3148" y="4691539"/>
              <a:ext cx="2353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Upload enterprise materials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148" y="4939189"/>
              <a:ext cx="21902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Query them before a task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16249" y="4354354"/>
              <a:ext cx="22223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CONFIGURE THE TASK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17773" y="4691539"/>
              <a:ext cx="3034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Audience • objective • pages • model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17773" y="4939189"/>
              <a:ext cx="2461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Style • template • AI imagery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30874" y="4354354"/>
              <a:ext cx="24229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REVIEW THE PAGE PLAN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32398" y="4691539"/>
              <a:ext cx="27066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Edit titles, points and sequence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32398" y="4939189"/>
              <a:ext cx="2689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Change count before production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5499" y="4354354"/>
              <a:ext cx="25055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GENERATE &amp; DOWNLOAD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47023" y="4691539"/>
              <a:ext cx="25257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Preview and compare versions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47023" y="4939189"/>
              <a:ext cx="1943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Download editable PPTX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49758" y="5906929"/>
            <a:ext cx="8692483" cy="308039"/>
            <a:chOff x="1749758" y="5906929"/>
            <a:chExt cx="8692483" cy="308039"/>
          </a:xfrm>
        </p:grpSpPr>
        <p:sp>
          <p:nvSpPr>
            <p:cNvPr id="35" name="TextBox 35"/>
            <p:cNvSpPr txBox="1"/>
            <p:nvPr/>
          </p:nvSpPr>
          <p:spPr>
            <a:xfrm>
              <a:off x="1749758" y="5906929"/>
              <a:ext cx="869248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One governed journey • Multiple model/style versions • One editable deliverable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032026" y="6692741"/>
            <a:ext cx="1650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38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649962FA-7652-4B8E-A031-02CD89B5CBEF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5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93370"/>
            <a:ext cx="364111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Plan Before Production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7017" y="1111568"/>
            <a:ext cx="10696477" cy="264033"/>
            <a:chOff x="517017" y="1111568"/>
            <a:chExt cx="1069647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17017" y="1111568"/>
              <a:ext cx="106964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Planning is the intelligence layer: it turns raw evidence into an explicit narrative contract before drawing begins.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7017" y="1740218"/>
            <a:ext cx="2354230" cy="2755582"/>
            <a:chOff x="517017" y="1740218"/>
            <a:chExt cx="2354230" cy="2755582"/>
          </a:xfrm>
        </p:grpSpPr>
        <p:sp>
          <p:nvSpPr>
            <p:cNvPr id="9" name="TextBox 9"/>
            <p:cNvSpPr txBox="1"/>
            <p:nvPr/>
          </p:nvSpPr>
          <p:spPr>
            <a:xfrm>
              <a:off x="517017" y="1740218"/>
              <a:ext cx="1898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READ THE MATERIALS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23875" y="2095500"/>
              <a:ext cx="20955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7517" y="2264092"/>
              <a:ext cx="14374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Topic &amp; audience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23875" y="2724150"/>
              <a:ext cx="20955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7517" y="2892742"/>
              <a:ext cx="1419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Facts &amp; metrics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23875" y="3352800"/>
              <a:ext cx="20955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7517" y="3521392"/>
              <a:ext cx="1737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Conclusions &amp; cases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23875" y="3981450"/>
              <a:ext cx="20955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7517" y="4150042"/>
              <a:ext cx="2163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Communication objective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184017" y="1740218"/>
            <a:ext cx="2826944" cy="3813238"/>
            <a:chOff x="3184017" y="1740218"/>
            <a:chExt cx="2826944" cy="3813238"/>
          </a:xfrm>
        </p:grpSpPr>
        <p:sp>
          <p:nvSpPr>
            <p:cNvPr id="19" name="TextBox 19"/>
            <p:cNvSpPr txBox="1"/>
            <p:nvPr/>
          </p:nvSpPr>
          <p:spPr>
            <a:xfrm>
              <a:off x="3184017" y="1740218"/>
              <a:ext cx="23727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MAKE CONTENT DECISIONS</a:t>
              </a:r>
            </a:p>
          </p:txBody>
        </p:sp>
        <p:sp>
          <p:nvSpPr>
            <p:cNvPr id="20" name="Polygon 20"/>
            <p:cNvSpPr/>
            <p:nvPr/>
          </p:nvSpPr>
          <p:spPr>
            <a:xfrm>
              <a:off x="3333750" y="2000250"/>
              <a:ext cx="2571750" cy="666750"/>
            </a:xfrm>
            <a:custGeom>
              <a:avLst/>
              <a:gdLst/>
              <a:ahLst/>
              <a:cxnLst/>
              <a:rect l="l" t="t" r="r" b="b"/>
              <a:pathLst>
                <a:path w="2571750" h="666750">
                  <a:moveTo>
                    <a:pt x="0" y="333375"/>
                  </a:moveTo>
                  <a:lnTo>
                    <a:pt x="1285875" y="0"/>
                  </a:lnTo>
                  <a:lnTo>
                    <a:pt x="2571750" y="333375"/>
                  </a:lnTo>
                  <a:lnTo>
                    <a:pt x="1285875" y="666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05289" y="2254568"/>
              <a:ext cx="628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RETAIN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3333750" y="2809875"/>
              <a:ext cx="2571750" cy="666750"/>
            </a:xfrm>
            <a:custGeom>
              <a:avLst/>
              <a:gdLst/>
              <a:ahLst/>
              <a:cxnLst/>
              <a:rect l="l" t="t" r="r" b="b"/>
              <a:pathLst>
                <a:path w="2571750" h="666750">
                  <a:moveTo>
                    <a:pt x="0" y="333375"/>
                  </a:moveTo>
                  <a:lnTo>
                    <a:pt x="1285875" y="0"/>
                  </a:lnTo>
                  <a:lnTo>
                    <a:pt x="2571750" y="333375"/>
                  </a:lnTo>
                  <a:lnTo>
                    <a:pt x="1285875" y="6667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15370" y="3064192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MERGE</a:t>
              </a:r>
            </a:p>
          </p:txBody>
        </p:sp>
        <p:sp>
          <p:nvSpPr>
            <p:cNvPr id="24" name="Polygon 24"/>
            <p:cNvSpPr/>
            <p:nvPr/>
          </p:nvSpPr>
          <p:spPr>
            <a:xfrm>
              <a:off x="3333750" y="3619500"/>
              <a:ext cx="2571750" cy="666750"/>
            </a:xfrm>
            <a:custGeom>
              <a:avLst/>
              <a:gdLst/>
              <a:ahLst/>
              <a:cxnLst/>
              <a:rect l="l" t="t" r="r" b="b"/>
              <a:pathLst>
                <a:path w="2571750" h="666750">
                  <a:moveTo>
                    <a:pt x="0" y="333375"/>
                  </a:moveTo>
                  <a:lnTo>
                    <a:pt x="1285875" y="0"/>
                  </a:lnTo>
                  <a:lnTo>
                    <a:pt x="2571750" y="333375"/>
                  </a:lnTo>
                  <a:lnTo>
                    <a:pt x="1285875" y="6667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13745" y="3873818"/>
              <a:ext cx="1011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PRIORITIZE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3333750" y="4429125"/>
              <a:ext cx="2571750" cy="666750"/>
            </a:xfrm>
            <a:custGeom>
              <a:avLst/>
              <a:gdLst/>
              <a:ahLst/>
              <a:cxnLst/>
              <a:rect l="l" t="t" r="r" b="b"/>
              <a:pathLst>
                <a:path w="2571750" h="666750">
                  <a:moveTo>
                    <a:pt x="0" y="333375"/>
                  </a:moveTo>
                  <a:lnTo>
                    <a:pt x="1285875" y="0"/>
                  </a:lnTo>
                  <a:lnTo>
                    <a:pt x="2571750" y="333375"/>
                  </a:lnTo>
                  <a:lnTo>
                    <a:pt x="1285875" y="6667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24638" y="4683442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EXPRESS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28289" y="5318760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process • comparison • case • data</a:t>
              </a:r>
            </a:p>
          </p:txBody>
        </p:sp>
      </p:grpSp>
      <p:sp>
        <p:nvSpPr>
          <p:cNvPr id="30" name="Line 30"/>
          <p:cNvSpPr/>
          <p:nvPr/>
        </p:nvSpPr>
        <p:spPr>
          <a:xfrm>
            <a:off x="2714625" y="3619500"/>
            <a:ext cx="428625" cy="1"/>
          </a:xfrm>
          <a:prstGeom prst="line">
            <a:avLst/>
          </a:prstGeom>
          <a:noFill/>
          <a:ln w="38100">
            <a:solidFill>
              <a:schemeClr val="accent3"/>
            </a:solidFill>
            <a:tailEnd type="triangle" w="lg" len="lg"/>
          </a:ln>
        </p:spPr>
      </p:sp>
      <p:sp>
        <p:nvSpPr>
          <p:cNvPr id="31" name="Line 31"/>
          <p:cNvSpPr/>
          <p:nvPr/>
        </p:nvSpPr>
        <p:spPr>
          <a:xfrm>
            <a:off x="6096000" y="3619500"/>
            <a:ext cx="428625" cy="1"/>
          </a:xfrm>
          <a:prstGeom prst="line">
            <a:avLst/>
          </a:prstGeom>
          <a:noFill/>
          <a:ln w="38100">
            <a:solidFill>
              <a:schemeClr val="accent3"/>
            </a:solidFill>
            <a:tailEnd type="triangle" w="lg" len="lg"/>
          </a:ln>
        </p:spPr>
      </p:sp>
      <p:grpSp>
        <p:nvGrpSpPr>
          <p:cNvPr id="43" name="Group 43"/>
          <p:cNvGrpSpPr/>
          <p:nvPr/>
        </p:nvGrpSpPr>
        <p:grpSpPr>
          <a:xfrm>
            <a:off x="6667500" y="1666875"/>
            <a:ext cx="5000625" cy="3857625"/>
            <a:chOff x="6667500" y="1666875"/>
            <a:chExt cx="5000625" cy="3857625"/>
          </a:xfrm>
        </p:grpSpPr>
        <p:sp>
          <p:nvSpPr>
            <p:cNvPr id="32" name="Rectangle 32"/>
            <p:cNvSpPr/>
            <p:nvPr/>
          </p:nvSpPr>
          <p:spPr>
            <a:xfrm>
              <a:off x="6667500" y="1666875"/>
              <a:ext cx="5000625" cy="3857625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67500" y="1666875"/>
              <a:ext cx="5000625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97624" y="1849279"/>
              <a:ext cx="236396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PAGE-PLAN BLUEPRINT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46392" y="2426018"/>
              <a:ext cx="2720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Narrative order &amp; page count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46392" y="2787968"/>
              <a:ext cx="172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Titles &amp; page roles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46392" y="3149918"/>
              <a:ext cx="3340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Key messages &amp; supporting evidence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46392" y="3511868"/>
              <a:ext cx="2882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Recommended visual treatment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953250" y="40005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9050">
              <a:solidFill>
                <a:srgbClr val="97CBF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46392" y="4254818"/>
              <a:ext cx="4654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Users can confirm, edit, reorder or reuse the plan.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953250" y="4686300"/>
              <a:ext cx="4381500" cy="57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07752" y="4892992"/>
              <a:ext cx="44724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Fixed storyline? Skip confirmation and produce.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0032026" y="6692741"/>
            <a:ext cx="1650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45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02481123-4967-4A6A-86F5-9BD9E9091C9E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6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93370"/>
            <a:ext cx="483988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Controlled AI Agent Production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7017" y="1111568"/>
            <a:ext cx="11075516" cy="264033"/>
            <a:chOff x="517017" y="1111568"/>
            <a:chExt cx="1107551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17017" y="1111568"/>
              <a:ext cx="11075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Creativity operates inside a task-scoped boundary; SVG gives the Agent precise, inspectable control over every page.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3875" y="1571625"/>
            <a:ext cx="4762500" cy="4000500"/>
            <a:chOff x="523875" y="1571625"/>
            <a:chExt cx="4762500" cy="4000500"/>
          </a:xfrm>
        </p:grpSpPr>
        <p:sp>
          <p:nvSpPr>
            <p:cNvPr id="9" name="Rectangle 9"/>
            <p:cNvSpPr/>
            <p:nvPr/>
          </p:nvSpPr>
          <p:spPr>
            <a:xfrm>
              <a:off x="523875" y="1571625"/>
              <a:ext cx="4762500" cy="4000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97CBFF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7750" y="1714500"/>
              <a:ext cx="3714750" cy="3714750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5612892" y="1664018"/>
            <a:ext cx="2007108" cy="1688782"/>
            <a:chOff x="5612892" y="1664018"/>
            <a:chExt cx="2007108" cy="1688782"/>
          </a:xfrm>
        </p:grpSpPr>
        <p:sp>
          <p:nvSpPr>
            <p:cNvPr id="12" name="TextBox 12"/>
            <p:cNvSpPr txBox="1"/>
            <p:nvPr/>
          </p:nvSpPr>
          <p:spPr>
            <a:xfrm>
              <a:off x="5612892" y="1664018"/>
              <a:ext cx="1394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SCOPED INPUTS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619750" y="2000250"/>
              <a:ext cx="200025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6529" y="2127885"/>
              <a:ext cx="1576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Confirmed page plan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619750" y="2476500"/>
              <a:ext cx="200025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6529" y="2604135"/>
              <a:ext cx="13097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Source snapshot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619750" y="2952750"/>
              <a:ext cx="200025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56529" y="3080385"/>
              <a:ext cx="1592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Brand &amp; design rules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7715250" y="2667000"/>
            <a:ext cx="428625" cy="1"/>
          </a:xfrm>
          <a:prstGeom prst="line">
            <a:avLst/>
          </a:prstGeom>
          <a:noFill/>
          <a:ln w="38100">
            <a:solidFill>
              <a:schemeClr val="accent3"/>
            </a:solidFill>
            <a:tailEnd type="triangle" w="lg" len="lg"/>
          </a:ln>
        </p:spPr>
      </p:sp>
      <p:grpSp>
        <p:nvGrpSpPr>
          <p:cNvPr id="34" name="Group 34"/>
          <p:cNvGrpSpPr/>
          <p:nvPr/>
        </p:nvGrpSpPr>
        <p:grpSpPr>
          <a:xfrm>
            <a:off x="8232267" y="1664018"/>
            <a:ext cx="3150108" cy="3717607"/>
            <a:chOff x="8232267" y="1664018"/>
            <a:chExt cx="3150108" cy="3717607"/>
          </a:xfrm>
        </p:grpSpPr>
        <p:sp>
          <p:nvSpPr>
            <p:cNvPr id="21" name="TextBox 21"/>
            <p:cNvSpPr txBox="1"/>
            <p:nvPr/>
          </p:nvSpPr>
          <p:spPr>
            <a:xfrm>
              <a:off x="8232267" y="1664018"/>
              <a:ext cx="2836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UNIFIED SYSTEM BEFORE PAGES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239125" y="2000250"/>
              <a:ext cx="3143250" cy="7143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22767" y="2149792"/>
              <a:ext cx="2654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Color • typography • rhythm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23529" y="2413635"/>
              <a:ext cx="21581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Hierarchy • image strategy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239125" y="2905125"/>
              <a:ext cx="3143250" cy="10001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2767" y="3073718"/>
              <a:ext cx="1737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PAGE-BY-PAGE SVG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23529" y="3375660"/>
              <a:ext cx="2926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Text • shapes • images • coordinates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23529" y="3613785"/>
              <a:ext cx="1867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Cropping • visual layers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239125" y="4095750"/>
              <a:ext cx="3143250" cy="1285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22767" y="4264342"/>
              <a:ext cx="19896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OPERATING BOUNDARY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23529" y="4585335"/>
              <a:ext cx="2804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Current task files + approved tools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23529" y="4842510"/>
              <a:ext cx="2860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system code or shared templates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23529" y="5099685"/>
              <a:ext cx="25139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access to other users’ work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3875" y="6048375"/>
            <a:ext cx="10858500" cy="337376"/>
            <a:chOff x="523875" y="6048375"/>
            <a:chExt cx="10858500" cy="337376"/>
          </a:xfrm>
        </p:grpSpPr>
        <p:sp>
          <p:nvSpPr>
            <p:cNvPr id="35" name="Line 35"/>
            <p:cNvSpPr/>
            <p:nvPr/>
          </p:nvSpPr>
          <p:spPr>
            <a:xfrm>
              <a:off x="523875" y="604837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735508" y="6121718"/>
              <a:ext cx="8435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 judgment for content and design • deterministic tools for controlled file production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032026" y="6692741"/>
            <a:ext cx="1650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39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BCC525C3-CAFA-43DA-AEF0-C4873D22E8CA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7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93370"/>
            <a:ext cx="35984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Platform Architecture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7398" y="1119664"/>
            <a:ext cx="11354114" cy="249364"/>
            <a:chOff x="517398" y="1119664"/>
            <a:chExt cx="11354114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17398" y="1119664"/>
              <a:ext cx="11354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Four separated layers combine an intuitive user experience with agent reasoning, deterministic production, and isolated state.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3875" y="1571625"/>
            <a:ext cx="11144250" cy="4076700"/>
            <a:chOff x="523875" y="1571625"/>
            <a:chExt cx="11144250" cy="4076700"/>
          </a:xfrm>
        </p:grpSpPr>
        <p:sp>
          <p:nvSpPr>
            <p:cNvPr id="9" name="Rectangle 9"/>
            <p:cNvSpPr/>
            <p:nvPr/>
          </p:nvSpPr>
          <p:spPr>
            <a:xfrm>
              <a:off x="523875" y="1571625"/>
              <a:ext cx="1114425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906" y="1720215"/>
              <a:ext cx="21420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WEB APPLICATION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4573" y="2062639"/>
              <a:ext cx="988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Authentication • material library • document Q&amp;A • task setup • plan confirmation • progress • previews • downloads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0" y="2476500"/>
              <a:ext cx="1" cy="25717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23875" y="2762250"/>
              <a:ext cx="5238750" cy="1238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1906" y="2929890"/>
              <a:ext cx="10667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AGENT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291364"/>
              <a:ext cx="32148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Multi-step understanding and planning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558064"/>
              <a:ext cx="35340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Tool use • visual decisions • page creation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954" y="3785235"/>
              <a:ext cx="19144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Responses API execution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29375" y="2762250"/>
              <a:ext cx="5238750" cy="1238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77406" y="2929890"/>
              <a:ext cx="2384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PPT MASTER ENGINE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80073" y="3291364"/>
              <a:ext cx="43612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Parsing • project organization • images • templates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80073" y="3558064"/>
              <a:ext cx="38891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SVG processing • quality checks • PPTX export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762625" y="3381375"/>
              <a:ext cx="571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3" name="Line 23"/>
            <p:cNvSpPr/>
            <p:nvPr/>
          </p:nvSpPr>
          <p:spPr>
            <a:xfrm>
              <a:off x="6096000" y="4048125"/>
              <a:ext cx="1" cy="28575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23875" y="4362450"/>
              <a:ext cx="11144250" cy="1285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1906" y="4549140"/>
              <a:ext cx="47094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SQLITE + ISOLATED TASK WORKSPACES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4192" y="4921568"/>
              <a:ext cx="9170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User scope • material metadata • task state • immutable snapshots • project files • output separation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954" y="5261610"/>
              <a:ext cx="7061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Each task owns its own material basis, workspace, tool boundary, and export directory.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032026" y="6692741"/>
            <a:ext cx="1650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30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DA224B1C-FABC-47BF-9E9C-EB9BB5E20FE8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8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93370"/>
            <a:ext cx="656169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Enterprise-Grade Output and Governance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7398" y="1119664"/>
            <a:ext cx="10793516" cy="249364"/>
            <a:chOff x="517398" y="1119664"/>
            <a:chExt cx="10793516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17398" y="1119664"/>
              <a:ext cx="10793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Governance is embedded across evidence, brand, visual resources, and native-object export—not added after generation.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3875" y="1666875"/>
            <a:ext cx="11695847" cy="3714750"/>
            <a:chOff x="523875" y="1666875"/>
            <a:chExt cx="11695847" cy="3714750"/>
          </a:xfrm>
        </p:grpSpPr>
        <p:sp>
          <p:nvSpPr>
            <p:cNvPr id="9" name="Line 9"/>
            <p:cNvSpPr/>
            <p:nvPr/>
          </p:nvSpPr>
          <p:spPr>
            <a:xfrm>
              <a:off x="3143250" y="2619375"/>
              <a:ext cx="1619250" cy="714375"/>
            </a:xfrm>
            <a:custGeom>
              <a:avLst/>
              <a:gdLst/>
              <a:ahLst/>
              <a:cxnLst/>
              <a:rect l="l" t="t" r="r" b="b"/>
              <a:pathLst>
                <a:path w="1619250" h="714375">
                  <a:moveTo>
                    <a:pt x="0" y="0"/>
                  </a:moveTo>
                  <a:lnTo>
                    <a:pt x="1619250" y="714375"/>
                  </a:lnTo>
                </a:path>
              </a:pathLst>
            </a:custGeom>
            <a:noFill/>
            <a:ln w="38100">
              <a:solidFill>
                <a:srgbClr val="97CBF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143250" y="3857625"/>
              <a:ext cx="1619250" cy="857250"/>
            </a:xfrm>
            <a:custGeom>
              <a:avLst/>
              <a:gdLst/>
              <a:ahLst/>
              <a:cxnLst/>
              <a:rect l="l" t="t" r="r" b="b"/>
              <a:pathLst>
                <a:path w="1619250" h="857250">
                  <a:moveTo>
                    <a:pt x="0" y="857250"/>
                  </a:moveTo>
                  <a:lnTo>
                    <a:pt x="1619250" y="0"/>
                  </a:lnTo>
                </a:path>
              </a:pathLst>
            </a:custGeom>
            <a:noFill/>
            <a:ln w="38100">
              <a:solidFill>
                <a:srgbClr val="97CBF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429500" y="2619375"/>
              <a:ext cx="1619250" cy="714375"/>
            </a:xfrm>
            <a:custGeom>
              <a:avLst/>
              <a:gdLst/>
              <a:ahLst/>
              <a:cxnLst/>
              <a:rect l="l" t="t" r="r" b="b"/>
              <a:pathLst>
                <a:path w="1619250" h="714375">
                  <a:moveTo>
                    <a:pt x="1619250" y="0"/>
                  </a:moveTo>
                  <a:lnTo>
                    <a:pt x="0" y="714375"/>
                  </a:lnTo>
                </a:path>
              </a:pathLst>
            </a:custGeom>
            <a:noFill/>
            <a:ln w="38100">
              <a:solidFill>
                <a:srgbClr val="97CBF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429500" y="3857625"/>
              <a:ext cx="1619250" cy="857250"/>
            </a:xfrm>
            <a:custGeom>
              <a:avLst/>
              <a:gdLst/>
              <a:ahLst/>
              <a:cxnLst/>
              <a:rect l="l" t="t" r="r" b="b"/>
              <a:pathLst>
                <a:path w="1619250" h="857250">
                  <a:moveTo>
                    <a:pt x="1619250" y="85725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97CBF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23875" y="1666875"/>
              <a:ext cx="285750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3999" y="1877854"/>
              <a:ext cx="25291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MATERIAL SNAPSHOTS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523" y="2272189"/>
              <a:ext cx="32063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Preserve the submitted evidence base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523" y="2557939"/>
              <a:ext cx="3123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even when library files change later.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23875" y="3762375"/>
              <a:ext cx="2857500" cy="1619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3999" y="3973354"/>
              <a:ext cx="25055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COMPANY TEMPLATES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5523" y="4367689"/>
              <a:ext cx="3362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Constrain cover, agenda, colors, type,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523" y="4653439"/>
              <a:ext cx="32179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headers, footers and confidentiality.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810625" y="1666875"/>
              <a:ext cx="2857500" cy="16192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40749" y="1877854"/>
              <a:ext cx="223417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VISUAL INSPECTION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42273" y="2272189"/>
              <a:ext cx="3129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 relevance, focal subject, crop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42273" y="2557939"/>
              <a:ext cx="2864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safety and placement before use.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810625" y="3762375"/>
              <a:ext cx="2857500" cy="1619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40749" y="3973354"/>
              <a:ext cx="22105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NATIVE DRAWINGML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42273" y="4367689"/>
              <a:ext cx="2836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Edit text, replace images, adjust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42273" y="4653439"/>
              <a:ext cx="31774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positions and continue in PowerPoint.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4714875" y="2143125"/>
              <a:ext cx="2762250" cy="2762250"/>
            </a:xfrm>
            <a:prstGeom prst="ellipse">
              <a:avLst/>
            </a:prstGeom>
            <a:solidFill>
              <a:schemeClr val="lt1"/>
            </a:solidFill>
            <a:ln w="76200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40035" y="2979420"/>
              <a:ext cx="15119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EDITABLE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35357" y="3388995"/>
              <a:ext cx="21212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POWERPOINT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07718" y="3902392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governed end to end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031144" y="5997892"/>
            <a:ext cx="8129713" cy="264033"/>
            <a:chOff x="2031144" y="5997892"/>
            <a:chExt cx="8129713" cy="264033"/>
          </a:xfrm>
        </p:grpSpPr>
        <p:sp>
          <p:nvSpPr>
            <p:cNvPr id="34" name="TextBox 34"/>
            <p:cNvSpPr txBox="1"/>
            <p:nvPr/>
          </p:nvSpPr>
          <p:spPr>
            <a:xfrm>
              <a:off x="2031144" y="5997892"/>
              <a:ext cx="81297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Evidence snapshot → confirmed plan → branded SVG → quality gates → native PPTX objects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032026" y="6692741"/>
            <a:ext cx="1650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37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B4DEFEA6-C65A-4CF5-9489-8098F53BEDAE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9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93370"/>
            <a:ext cx="560716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Strategic Impact and Adoption Path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7017" y="1111568"/>
            <a:ext cx="10906569" cy="264033"/>
            <a:chOff x="517017" y="1111568"/>
            <a:chExt cx="1090656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17017" y="1111568"/>
              <a:ext cx="10906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Prove value in high-frequency pilots, then scale through reusable assets, isolation, and standardized quality gates.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3875" y="1571625"/>
            <a:ext cx="4048125" cy="3905250"/>
            <a:chOff x="523875" y="1571625"/>
            <a:chExt cx="4048125" cy="3905250"/>
          </a:xfrm>
        </p:grpSpPr>
        <p:sp>
          <p:nvSpPr>
            <p:cNvPr id="9" name="Rectangle 9"/>
            <p:cNvSpPr/>
            <p:nvPr/>
          </p:nvSpPr>
          <p:spPr>
            <a:xfrm>
              <a:off x="523875" y="1571625"/>
              <a:ext cx="4048125" cy="3905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97CBFF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188" y="1714500"/>
              <a:ext cx="3619500" cy="3619500"/>
            </a:xfrm>
            <a:prstGeom prst="rect">
              <a:avLst/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4946142" y="1664018"/>
            <a:ext cx="4129978" cy="3775138"/>
            <a:chOff x="4946142" y="1664018"/>
            <a:chExt cx="4129978" cy="3775138"/>
          </a:xfrm>
        </p:grpSpPr>
        <p:sp>
          <p:nvSpPr>
            <p:cNvPr id="12" name="TextBox 12"/>
            <p:cNvSpPr txBox="1"/>
            <p:nvPr/>
          </p:nvSpPr>
          <p:spPr>
            <a:xfrm>
              <a:off x="4946142" y="1664018"/>
              <a:ext cx="2171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PILOT → PROVE → SCALE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86375" y="2381250"/>
              <a:ext cx="1" cy="257175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Ellipse 14"/>
            <p:cNvSpPr/>
            <p:nvPr/>
          </p:nvSpPr>
          <p:spPr>
            <a:xfrm>
              <a:off x="4953000" y="2095500"/>
              <a:ext cx="666750" cy="666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07262" y="23202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49874" y="2154079"/>
              <a:ext cx="6531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PILOT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51779" y="2499360"/>
              <a:ext cx="2876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Executive updates • project reviews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51779" y="2727960"/>
              <a:ext cx="2844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Solution proposals • strategy decks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953000" y="3333750"/>
              <a:ext cx="666750" cy="666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07262" y="35585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49874" y="3392329"/>
              <a:ext cx="7121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PROVE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51779" y="3737610"/>
              <a:ext cx="27478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Time • revision cycles • compliance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51779" y="3966210"/>
              <a:ext cx="1318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Reuse • adoption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953000" y="4572000"/>
              <a:ext cx="666750" cy="666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07262" y="47967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49874" y="4630579"/>
              <a:ext cx="6649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SCALE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51779" y="4975860"/>
              <a:ext cx="3224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Templates • model comparison • libraries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51779" y="5204460"/>
              <a:ext cx="23194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 isolation • quality gates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810625" y="1571625"/>
            <a:ext cx="2865461" cy="3905250"/>
            <a:chOff x="8810625" y="1571625"/>
            <a:chExt cx="2865461" cy="3905250"/>
          </a:xfrm>
        </p:grpSpPr>
        <p:sp>
          <p:nvSpPr>
            <p:cNvPr id="30" name="Rectangle 30"/>
            <p:cNvSpPr/>
            <p:nvPr/>
          </p:nvSpPr>
          <p:spPr>
            <a:xfrm>
              <a:off x="8810625" y="1571625"/>
              <a:ext cx="285750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40749" y="1782604"/>
              <a:ext cx="263533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MEASURE WHAT MATTERS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41892" y="2283142"/>
              <a:ext cx="1418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Production time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048750" y="2571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41892" y="2807018"/>
              <a:ext cx="1336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Revision cycles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9048750" y="309562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41892" y="3330892"/>
              <a:ext cx="2018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Brand-compliance rate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048750" y="36195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41892" y="3854768"/>
              <a:ext cx="12736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Content reuse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9048750" y="414337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41892" y="4378642"/>
              <a:ext cx="12279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User adoption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048750" y="4810125"/>
              <a:ext cx="2286000" cy="428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19133" y="4939189"/>
              <a:ext cx="2345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SHARED AI INFRASTRUCTURE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23304" y="5920740"/>
            <a:ext cx="8945393" cy="352044"/>
            <a:chOff x="1623304" y="5920740"/>
            <a:chExt cx="8945393" cy="352044"/>
          </a:xfrm>
        </p:grpSpPr>
        <p:sp>
          <p:nvSpPr>
            <p:cNvPr id="44" name="TextBox 44"/>
            <p:cNvSpPr txBox="1"/>
            <p:nvPr/>
          </p:nvSpPr>
          <p:spPr>
            <a:xfrm>
              <a:off x="1623304" y="5920740"/>
              <a:ext cx="8945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Governed knowledge in. Communication-ready, editable PowerPoint out.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0032026" y="6692741"/>
            <a:ext cx="1650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47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E3F92A7B-3965-4C29-9AD2-10405ACF1A5E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10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endParaRPr lang="en-US" sz="3200" b="1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8" name="Company Cover Image" descr="company_cover_hero.png"/>
          <p:cNvPicPr>
            <a:picLocks noGrp="1" noChangeAspect="1"/>
          </p:cNvPicPr>
          <p:nvPr>
            <p:ph type="pic" sz="quarter" idx="10"/>
          </p:nvPr>
        </p:nvPicPr>
        <p:blipFill>
          <a:blip r:embed="rId6"/>
          <a:srcRect t="27968" b="27968"/>
          <a:stretch>
            <a:fillRect/>
          </a:stretch>
        </p:blipFill>
        <p:spPr/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PPT Generator：企业级 AI 演示文稿生产系统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从企业材料到可编辑、符合品牌规范的 PowerPoint</a:t>
            </a:r>
          </a:p>
          <a:p>
            <a:r>
              <a:rPr lang="zh-CN" altLang="en-US" dirty="0"/>
              <a:t>2026年8月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C9B3CF-D017-4CF1-BB5E-7BB514D90D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2572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98012" y="1485900"/>
            <a:ext cx="12375443" cy="491500"/>
            <a:chOff x="1198012" y="1485900"/>
            <a:chExt cx="12375443" cy="491500"/>
          </a:xfrm>
        </p:grpSpPr>
        <p:sp>
          <p:nvSpPr>
            <p:cNvPr id="4" name="Gleichschenkliges Dreieck 3"/>
            <p:cNvSpPr/>
            <p:nvPr/>
          </p:nvSpPr>
          <p:spPr>
            <a:xfrm rot="16200000">
              <a:off x="12335904" y="1623636"/>
              <a:ext cx="287874" cy="21602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hteck 19"/>
            <p:cNvSpPr/>
            <p:nvPr/>
          </p:nvSpPr>
          <p:spPr>
            <a:xfrm>
              <a:off x="1198012" y="1485900"/>
              <a:ext cx="10501811" cy="4915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b="1" dirty="0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12637325" y="1531740"/>
              <a:ext cx="936130" cy="3998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36000" bIns="0" rtlCol="0" anchor="ctr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To shift Highlight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Click the arrow, press shift key and move top or bottom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527050" y="6645600"/>
            <a:ext cx="11137900" cy="151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For internal use - Confidential</a:t>
            </a:r>
            <a:endParaRPr lang="en-US" dirty="0"/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20365486"/>
              </p:ext>
            </p:extLst>
          </p:nvPr>
        </p:nvGraphicFramePr>
        <p:xfrm>
          <a:off x="497066" y="1477762"/>
          <a:ext cx="11202757" cy="4536000"/>
        </p:xfrm>
        <a:graphic>
          <a:graphicData uri="http://schemas.openxmlformats.org/drawingml/2006/table">
            <a:tbl>
              <a:tblPr firstRow="1" firstCol="1" bandRow="1">
                <a:solidFill>
                  <a:srgbClr val="FFFFFF">
                    <a:alpha val="20000"/>
                  </a:srgbClr>
                </a:solidFill>
              </a:tblPr>
              <a:tblGrid>
                <a:gridCol w="676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6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企业演示文稿生产挑战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产品定位与核心价值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端到端用户旅程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先规划，后生产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受控 AI Agent 生产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平台架构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企业级输出与治理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战略影响与落地路径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8627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s5uiHu5zdwM59R52ZEx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rdrqVoeX2ywA4Mq.l9I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NYFKDxYUOOjb5ONPuTRA"/>
</p:tagLst>
</file>

<file path=ppt/theme/gen_theme1.xml><?xml version="1.0" encoding="utf-8"?>
<a:theme xmlns:a="http://schemas.openxmlformats.org/drawingml/2006/main" name="web_beb9df56e190">
  <a:themeElements>
    <a:clrScheme name="web_beb9df56e190">
      <a:dk1>
        <a:srgbClr val="1F2937"/>
      </a:dk1>
      <a:lt1>
        <a:srgbClr val="FFFFFF"/>
      </a:lt1>
      <a:dk2>
        <a:srgbClr val="1F497D"/>
      </a:dk2>
      <a:lt2>
        <a:srgbClr val="97CBFF"/>
      </a:lt2>
      <a:accent1>
        <a:srgbClr val="004696"/>
      </a:accent1>
      <a:accent2>
        <a:srgbClr val="56A410"/>
      </a:accent2>
      <a:accent3>
        <a:srgbClr val="3399FF"/>
      </a:accent3>
      <a:accent4>
        <a:srgbClr val="004696"/>
      </a:accent4>
      <a:accent5>
        <a:srgbClr val="BEF38E"/>
      </a:accent5>
      <a:accent6>
        <a:srgbClr val="E69400"/>
      </a:accent6>
      <a:hlink>
        <a:srgbClr val="56A410"/>
      </a:hlink>
      <a:folHlink>
        <a:srgbClr val="3399FF"/>
      </a:folHlink>
    </a:clrScheme>
    <a:fontScheme name="web_beb9df56e190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b_beb9df56e19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Blank Final 2023-03-23">
  <a:themeElements>
    <a:clrScheme name="METTLER TOLEDO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56A410"/>
      </a:accent1>
      <a:accent2>
        <a:srgbClr val="004696"/>
      </a:accent2>
      <a:accent3>
        <a:srgbClr val="3399FF"/>
      </a:accent3>
      <a:accent4>
        <a:srgbClr val="97CBFF"/>
      </a:accent4>
      <a:accent5>
        <a:srgbClr val="BEF38E"/>
      </a:accent5>
      <a:accent6>
        <a:srgbClr val="E69400"/>
      </a:accent6>
      <a:hlink>
        <a:srgbClr val="004696"/>
      </a:hlink>
      <a:folHlink>
        <a:srgbClr val="97CBFF"/>
      </a:folHlink>
    </a:clrScheme>
    <a:fontScheme name="Arial-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ttler-Toledo-Master">
      <a: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100000"/>
                <a:shade val="50000"/>
                <a:satMod val="130000"/>
              </a:schemeClr>
            </a:gs>
            <a:gs pos="80000">
              <a:schemeClr val="phClr">
                <a:tint val="100000"/>
                <a:shade val="90000"/>
                <a:alpha val="100000"/>
                <a:satMod val="130000"/>
              </a:schemeClr>
            </a:gs>
            <a:gs pos="100000">
              <a:schemeClr val="phClr">
                <a:tint val="100000"/>
                <a:shade val="100000"/>
                <a:alpha val="100000"/>
                <a:satMod val="130000"/>
              </a:schemeClr>
            </a:gs>
          </a:gsLst>
          <a:lin ang="16200000" scaled="1"/>
        </a:gradFill>
      </a:fillStyleLst>
      <a:lnStyleLst>
        <a:ln w="6350" cap="flat" cmpd="sng" algn="ctr">
          <a:solidFill>
            <a:schemeClr val="phClr">
              <a:satMod val="150000"/>
            </a:schemeClr>
          </a:solidFill>
          <a:prstDash val="solid"/>
        </a:ln>
        <a:ln w="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5" dist="25400" dir="5400000" algn="bl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  <a:lnDef>
      <a:spPr>
        <a:ln w="6350">
          <a:solidFill>
            <a:schemeClr val="bg1">
              <a:lumMod val="65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6213" indent="-176213" algn="l">
          <a:spcBef>
            <a:spcPts val="400"/>
          </a:spcBef>
          <a:spcAft>
            <a:spcPts val="600"/>
          </a:spcAft>
          <a:buClr>
            <a:schemeClr val="accent1"/>
          </a:buClr>
          <a:buFont typeface="Wingdings" panose="05000000000000000000" pitchFamily="2" charset="2"/>
          <a:buChar char="§"/>
          <a:defRPr sz="1600" dirty="0" smtClean="0"/>
        </a:defPPr>
      </a:lstStyle>
    </a:txDef>
  </a:objectDefaults>
  <a:extraClrSchemeLst/>
  <a:custClrLst>
    <a:custClr name="MT Green">
      <a:srgbClr val="56A410"/>
    </a:custClr>
    <a:custClr name="MT Blue">
      <a:srgbClr val="004696"/>
    </a:custClr>
    <a:custClr name="MT Cyan">
      <a:srgbClr val="3399FF"/>
    </a:custClr>
  </a:custClrLst>
  <a:extLst>
    <a:ext uri="{05A4C25C-085E-4340-85A3-A5531E510DB2}">
      <thm15:themeFamily xmlns:thm15="http://schemas.microsoft.com/office/thememl/2012/main" name="Presentation1" id="{31CBCB01-0CF0-4F99-B1A1-D255C2082704}" vid="{D39F59CA-1FF9-4DAC-887E-4EBD4234074D}"/>
    </a:ext>
  </a:extLst>
</a:theme>
</file>

<file path=ppt/theme/theme2.xml><?xml version="1.0" encoding="utf-8"?>
<a:theme xmlns:a="http://schemas.openxmlformats.org/drawingml/2006/main" name="Larissa-Design">
  <a:themeElements>
    <a:clrScheme name="Mettler-Toledo-Colors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004696"/>
      </a:accent1>
      <a:accent2>
        <a:srgbClr val="3399FF"/>
      </a:accent2>
      <a:accent3>
        <a:srgbClr val="93CCFF"/>
      </a:accent3>
      <a:accent4>
        <a:srgbClr val="60B612"/>
      </a:accent4>
      <a:accent5>
        <a:srgbClr val="CCF595"/>
      </a:accent5>
      <a:accent6>
        <a:srgbClr val="E69400"/>
      </a:accent6>
      <a:hlink>
        <a:srgbClr val="004696"/>
      </a:hlink>
      <a:folHlink>
        <a:srgbClr val="70B711"/>
      </a:folHlink>
    </a:clrScheme>
    <a:fontScheme name="Arial-Font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Mettler-Toledo-Colors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004696"/>
      </a:accent1>
      <a:accent2>
        <a:srgbClr val="3399FF"/>
      </a:accent2>
      <a:accent3>
        <a:srgbClr val="93CCFF"/>
      </a:accent3>
      <a:accent4>
        <a:srgbClr val="60B612"/>
      </a:accent4>
      <a:accent5>
        <a:srgbClr val="CCF595"/>
      </a:accent5>
      <a:accent6>
        <a:srgbClr val="E69400"/>
      </a:accent6>
      <a:hlink>
        <a:srgbClr val="004696"/>
      </a:hlink>
      <a:folHlink>
        <a:srgbClr val="70B711"/>
      </a:folHlink>
    </a:clrScheme>
    <a:fontScheme name="Arial-Font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71f16f-cdf9-4332-a5b6-e4a306968cef">
      <Terms xmlns="http://schemas.microsoft.com/office/infopath/2007/PartnerControls"/>
    </lcf76f155ced4ddcb4097134ff3c332f>
    <TaxCatchAll xmlns="e842abd1-4f00-4400-a191-bab745fedcf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3FA22B4098D9CD44853ACF87C2864AA6" ma:contentTypeVersion="22" ma:contentTypeDescription="新建文档。" ma:contentTypeScope="" ma:versionID="eec5fc4ce64cb98fee8ee586c5d36c22">
  <xsd:schema xmlns:xsd="http://www.w3.org/2001/XMLSchema" xmlns:xs="http://www.w3.org/2001/XMLSchema" xmlns:p="http://schemas.microsoft.com/office/2006/metadata/properties" xmlns:ns2="e842abd1-4f00-4400-a191-bab745fedcfd" xmlns:ns3="b971f16f-cdf9-4332-a5b6-e4a306968cef" targetNamespace="http://schemas.microsoft.com/office/2006/metadata/properties" ma:root="true" ma:fieldsID="26104fc75b56f0fd1b77b43ef19cbf82" ns2:_="" ns3:_="">
    <xsd:import namespace="e842abd1-4f00-4400-a191-bab745fedcfd"/>
    <xsd:import namespace="b971f16f-cdf9-4332-a5b6-e4a306968ce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2abd1-4f00-4400-a191-bab745fedcfd" elementFormDefault="qualified">
    <xsd:import namespace="http://schemas.microsoft.com/office/2006/documentManagement/types"/>
    <xsd:import namespace="http://schemas.microsoft.com/office/infopath/2007/PartnerControls"/>
    <xsd:element name="SharedWithUsers" ma:index="4" nillable="true" ma:displayName="共享对象: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38c921a-64b5-46b0-82df-6365a78b031c}" ma:internalName="TaxCatchAll" ma:showField="CatchAllData" ma:web="e842abd1-4f00-4400-a191-bab745fedc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71f16f-cdf9-4332-a5b6-e4a306968c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图像标记" ma:readOnly="false" ma:fieldId="{5cf76f15-5ced-4ddc-b409-7134ff3c332f}" ma:taxonomyMulti="true" ma:sspId="ae29fd97-47e2-4dd7-9344-6a601f8ae0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内容类型"/>
        <xsd:element ref="dc:title" minOccurs="0" maxOccurs="1" ma:index="3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E1F72C-9683-425D-A8D1-53571179C666}">
  <ds:schemaRefs>
    <ds:schemaRef ds:uri="31f64264-feeb-4cc0-8cdd-1351f7f56b20"/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b971f16f-cdf9-4332-a5b6-e4a306968cef"/>
    <ds:schemaRef ds:uri="e842abd1-4f00-4400-a191-bab745fedcfd"/>
  </ds:schemaRefs>
</ds:datastoreItem>
</file>

<file path=customXml/itemProps2.xml><?xml version="1.0" encoding="utf-8"?>
<ds:datastoreItem xmlns:ds="http://schemas.openxmlformats.org/officeDocument/2006/customXml" ds:itemID="{ED6215A6-A98E-4584-8FB5-A453AFB5FE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42abd1-4f00-4400-a191-bab745fedcfd"/>
    <ds:schemaRef ds:uri="b971f16f-cdf9-4332-a5b6-e4a306968c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FB36-E859-4F88-BF97-F54A555958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44</Words>
  <Application>Microsoft Macintosh PowerPoint</Application>
  <PresentationFormat>宽屏</PresentationFormat>
  <Paragraphs>20</Paragraphs>
  <Slides>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Arial</vt:lpstr>
      <vt:lpstr>Wingdings</vt:lpstr>
      <vt:lpstr>Blank Final 2023-03-23</vt:lpstr>
      <vt:lpstr>think-cell Slide</vt:lpstr>
      <vt:lpstr>Presentation Title</vt:lpstr>
      <vt:lpstr>Agenda</vt:lpstr>
      <vt:lpstr>PowerPoint 演示文稿</vt:lpstr>
    </vt:vector>
  </TitlesOfParts>
  <Manager/>
  <Company>Mettler Toledo International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PPT Template 2023</dc:title>
  <dc:creator>METTLER TOLEDO Group Communications</dc:creator>
  <cp:lastModifiedBy>Shi YuJie MTCT</cp:lastModifiedBy>
  <cp:revision>3</cp:revision>
  <dcterms:created xsi:type="dcterms:W3CDTF">2021-07-12T11:39:32Z</dcterms:created>
  <dcterms:modified xsi:type="dcterms:W3CDTF">2026-07-31T07:53:00Z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f615ef3-aa90-4fa2-9d66-c4f70f9fc413_Enabled">
    <vt:lpwstr>true</vt:lpwstr>
  </property>
  <property fmtid="{D5CDD505-2E9C-101B-9397-08002B2CF9AE}" pid="3" name="MSIP_Label_af615ef3-aa90-4fa2-9d66-c4f70f9fc413_SetDate">
    <vt:lpwstr>2021-07-12T11:39:35Z</vt:lpwstr>
  </property>
  <property fmtid="{D5CDD505-2E9C-101B-9397-08002B2CF9AE}" pid="4" name="MSIP_Label_af615ef3-aa90-4fa2-9d66-c4f70f9fc413_Method">
    <vt:lpwstr>Standard</vt:lpwstr>
  </property>
  <property fmtid="{D5CDD505-2E9C-101B-9397-08002B2CF9AE}" pid="5" name="MSIP_Label_af615ef3-aa90-4fa2-9d66-c4f70f9fc413_Name">
    <vt:lpwstr>Confidential</vt:lpwstr>
  </property>
  <property fmtid="{D5CDD505-2E9C-101B-9397-08002B2CF9AE}" pid="6" name="MSIP_Label_af615ef3-aa90-4fa2-9d66-c4f70f9fc413_SiteId">
    <vt:lpwstr>fb4c0aee-6cd2-482f-a1a5-717e7c02496b</vt:lpwstr>
  </property>
  <property fmtid="{D5CDD505-2E9C-101B-9397-08002B2CF9AE}" pid="7" name="MSIP_Label_af615ef3-aa90-4fa2-9d66-c4f70f9fc413_ActionId">
    <vt:lpwstr>8d842dae-99ec-4fa6-9f85-0e9e295c8a06</vt:lpwstr>
  </property>
  <property fmtid="{D5CDD505-2E9C-101B-9397-08002B2CF9AE}" pid="8" name="MSIP_Label_af615ef3-aa90-4fa2-9d66-c4f70f9fc413_ContentBits">
    <vt:lpwstr>0</vt:lpwstr>
  </property>
  <property fmtid="{D5CDD505-2E9C-101B-9397-08002B2CF9AE}" pid="9" name="ContentTypeId">
    <vt:lpwstr>0x0101003FA22B4098D9CD44853ACF87C2864AA6</vt:lpwstr>
  </property>
</Properties>
</file>

<file path=userCustomization/customUI.xml><?xml version="1.0" encoding="utf-8"?>
<mso:customUI xmlns:doc="http://schemas.microsoft.com/office/2006/01/customui/currentDocument" xmlns:mso="http://schemas.microsoft.com/office/2006/01/customui">
  <mso:ribbon>
    <mso:qat>
      <mso:documentControls>
        <mso:separator idQ="doc:sep1" visible="true"/>
        <mso:separator idQ="doc:sep2" visible="true"/>
        <mso:control idQ="mso:FileProperties" visible="true"/>
        <mso:control idQ="mso:GridSettings" visible="true"/>
        <mso:control idQ="mso:HeaderFooterInsert" visible="true"/>
        <mso:separator idQ="doc:sep3" visible="true"/>
        <mso:control idQ="mso:SlideNewGallery" visible="true"/>
        <mso:control idQ="mso:SlideLayoutGallery" visible="true"/>
        <mso:separator idQ="doc:sep6" visible="true"/>
        <mso:control idQ="mso:OutlineDemote" visible="true"/>
        <mso:control idQ="mso:OutlinePromote" visible="true"/>
        <mso:separator idQ="doc:sep4" visible="true"/>
        <mso:separator idQ="doc:sep5" visible="true"/>
      </mso:documentControls>
    </mso:qat>
  </mso:ribbon>
</mso:customUI>
</file>